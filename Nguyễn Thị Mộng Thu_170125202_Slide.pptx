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Aptos Bold" panose="020B0004020202020204"/>
      <p:regular r:id="rId21"/>
      <p:bold r:id="rId22"/>
    </p:embeddedFont>
    <p:embeddedFont>
      <p:font typeface="Noto Sans" panose="020B0502040504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2" autoAdjust="0"/>
  </p:normalViewPr>
  <p:slideViewPr>
    <p:cSldViewPr>
      <p:cViewPr varScale="1">
        <p:scale>
          <a:sx n="64" d="100"/>
          <a:sy n="64" d="100"/>
        </p:scale>
        <p:origin x="68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1990" cy="10295039"/>
            <a:chOff x="0" y="0"/>
            <a:chExt cx="40265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590" cy="13726668"/>
            </a:xfrm>
            <a:custGeom>
              <a:avLst/>
              <a:gdLst/>
              <a:ahLst/>
              <a:cxnLst/>
              <a:rect l="l" t="t" r="r" b="b"/>
              <a:pathLst>
                <a:path w="402590" h="13726668">
                  <a:moveTo>
                    <a:pt x="0" y="0"/>
                  </a:moveTo>
                  <a:lnTo>
                    <a:pt x="402590" y="0"/>
                  </a:lnTo>
                  <a:lnTo>
                    <a:pt x="402590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2564183"/>
            <a:ext cx="6481567" cy="719741"/>
            <a:chOff x="0" y="0"/>
            <a:chExt cx="8642089" cy="9596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42089" cy="959680"/>
            </a:xfrm>
            <a:custGeom>
              <a:avLst/>
              <a:gdLst/>
              <a:ahLst/>
              <a:cxnLst/>
              <a:rect l="l" t="t" r="r" b="b"/>
              <a:pathLst>
                <a:path w="8642089" h="959680">
                  <a:moveTo>
                    <a:pt x="0" y="160014"/>
                  </a:moveTo>
                  <a:cubicBezTo>
                    <a:pt x="0" y="71683"/>
                    <a:pt x="61826" y="0"/>
                    <a:pt x="138010" y="0"/>
                  </a:cubicBezTo>
                  <a:lnTo>
                    <a:pt x="8504079" y="0"/>
                  </a:lnTo>
                  <a:cubicBezTo>
                    <a:pt x="8580263" y="0"/>
                    <a:pt x="8642089" y="71683"/>
                    <a:pt x="8642089" y="160014"/>
                  </a:cubicBezTo>
                  <a:lnTo>
                    <a:pt x="8642089" y="799679"/>
                  </a:lnTo>
                  <a:cubicBezTo>
                    <a:pt x="8642089" y="888010"/>
                    <a:pt x="8580263" y="959680"/>
                    <a:pt x="8504079" y="959680"/>
                  </a:cubicBezTo>
                  <a:lnTo>
                    <a:pt x="138010" y="959680"/>
                  </a:lnTo>
                  <a:cubicBezTo>
                    <a:pt x="61826" y="959680"/>
                    <a:pt x="0" y="888010"/>
                    <a:pt x="0" y="799679"/>
                  </a:cubicBezTo>
                  <a:close/>
                </a:path>
              </a:pathLst>
            </a:custGeom>
            <a:solidFill>
              <a:srgbClr val="E5F1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90897" y="2747841"/>
            <a:ext cx="595717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ĐỒ ÁN HỌC PHẦN • CHUYÊN ĐỀ ASP.NET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952089"/>
            <a:ext cx="938000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XÂY DỰNG WEBSITE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634670"/>
            <a:ext cx="688371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CHIA SẺ CÔNG THỨC NẤU ĂN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349045"/>
            <a:ext cx="471291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BẾP NHÀ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662478" y="2095989"/>
            <a:ext cx="3714024" cy="3714024"/>
          </a:xfrm>
          <a:custGeom>
            <a:avLst/>
            <a:gdLst/>
            <a:ahLst/>
            <a:cxnLst/>
            <a:rect l="l" t="t" r="r" b="b"/>
            <a:pathLst>
              <a:path w="3714024" h="3714024">
                <a:moveTo>
                  <a:pt x="0" y="0"/>
                </a:moveTo>
                <a:lnTo>
                  <a:pt x="3714024" y="0"/>
                </a:lnTo>
                <a:lnTo>
                  <a:pt x="3714024" y="3714024"/>
                </a:lnTo>
                <a:lnTo>
                  <a:pt x="0" y="3714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408701" y="5938848"/>
            <a:ext cx="6300192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53383"/>
                </a:solidFill>
                <a:latin typeface="Aptos Bold"/>
                <a:ea typeface="Aptos Bold"/>
                <a:cs typeface="Aptos Bold"/>
                <a:sym typeface="Aptos Bold"/>
              </a:rPr>
              <a:t>ĐẠI HỌC TRÀ VINH  </a:t>
            </a: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53383"/>
                </a:solidFill>
                <a:latin typeface="Aptos Bold"/>
                <a:ea typeface="Aptos Bold"/>
                <a:cs typeface="Aptos Bold"/>
                <a:sym typeface="Aptos Bold"/>
              </a:rPr>
              <a:t> TRƯỜNG KỸ THUẬT VÀ CÔNG NGHỆ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162721"/>
            <a:ext cx="802561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Sinh viên: Nguyễn Thị Mộng Thu •  MSSV: 170125202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648461"/>
            <a:ext cx="802561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dirty="0" err="1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Lớp</a:t>
            </a:r>
            <a:r>
              <a:rPr lang="en-US" sz="2699" dirty="0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: DK25TTC3    |    GV: TS. Nguyễn </a:t>
            </a:r>
            <a:r>
              <a:rPr lang="en-US" sz="2699" dirty="0" err="1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Nhứt</a:t>
            </a:r>
            <a:r>
              <a:rPr lang="en-US" sz="2699" dirty="0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Lam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  <p:pic>
        <p:nvPicPr>
          <p:cNvPr id="17" name="Audio 16">
            <a:extLst>
              <a:ext uri="{FF2B5EF4-FFF2-40B4-BE49-F238E27FC236}">
                <a16:creationId xmlns:a16="http://schemas.microsoft.com/office/drawing/2014/main" id="{B9745303-E086-27D6-F491-80F9263E1B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84"/>
    </mc:Choice>
    <mc:Fallback xmlns="">
      <p:transition spd="slow" advTm="387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419148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Nội dung trình bày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200198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2500" y="343167"/>
            <a:ext cx="466706" cy="466706"/>
            <a:chOff x="0" y="0"/>
            <a:chExt cx="622275" cy="622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64304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9147" y="892235"/>
            <a:ext cx="205902" cy="205902"/>
            <a:chOff x="0" y="0"/>
            <a:chExt cx="274536" cy="274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74" cy="274574"/>
            </a:xfrm>
            <a:custGeom>
              <a:avLst/>
              <a:gdLst/>
              <a:ahLst/>
              <a:cxnLst/>
              <a:rect l="l" t="t" r="r" b="b"/>
              <a:pathLst>
                <a:path w="274574" h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4039" y="2539441"/>
            <a:ext cx="7481068" cy="1619755"/>
            <a:chOff x="0" y="0"/>
            <a:chExt cx="9974758" cy="21596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74707" cy="2159635"/>
            </a:xfrm>
            <a:custGeom>
              <a:avLst/>
              <a:gdLst/>
              <a:ahLst/>
              <a:cxnLst/>
              <a:rect l="l" t="t" r="r" b="b"/>
              <a:pathLst>
                <a:path w="9974707" h="2159635">
                  <a:moveTo>
                    <a:pt x="0" y="359918"/>
                  </a:moveTo>
                  <a:cubicBezTo>
                    <a:pt x="0" y="161163"/>
                    <a:pt x="161163" y="0"/>
                    <a:pt x="359918" y="0"/>
                  </a:cubicBezTo>
                  <a:lnTo>
                    <a:pt x="9614789" y="0"/>
                  </a:lnTo>
                  <a:cubicBezTo>
                    <a:pt x="9813544" y="0"/>
                    <a:pt x="9974707" y="161163"/>
                    <a:pt x="9974707" y="359918"/>
                  </a:cubicBezTo>
                  <a:lnTo>
                    <a:pt x="9974707" y="1799717"/>
                  </a:lnTo>
                  <a:cubicBezTo>
                    <a:pt x="9974707" y="1998472"/>
                    <a:pt x="9813544" y="2159635"/>
                    <a:pt x="9614789" y="2159635"/>
                  </a:cubicBezTo>
                  <a:lnTo>
                    <a:pt x="359918" y="2159635"/>
                  </a:lnTo>
                  <a:cubicBezTo>
                    <a:pt x="161163" y="2159635"/>
                    <a:pt x="0" y="1998472"/>
                    <a:pt x="0" y="179971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54940" y="3073094"/>
            <a:ext cx="80079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22434" y="2882179"/>
            <a:ext cx="3525965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Bối</a:t>
            </a:r>
            <a:r>
              <a:rPr lang="en-US" sz="3000" b="1" dirty="0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cảnh</a:t>
            </a:r>
            <a:r>
              <a:rPr lang="en-US" sz="3000" b="1" dirty="0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 &amp; </a:t>
            </a:r>
            <a:r>
              <a:rPr lang="en-US" sz="3000" b="1" dirty="0" err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mục</a:t>
            </a:r>
            <a:r>
              <a:rPr lang="en-US" sz="3000" b="1" dirty="0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tiêu</a:t>
            </a:r>
            <a:endParaRPr lang="en-US" sz="3000" b="1" dirty="0">
              <a:solidFill>
                <a:srgbClr val="1D374C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722435" y="3454508"/>
            <a:ext cx="546788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Vấn đề, phạm vi, nhóm người dùng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540069" y="2539441"/>
            <a:ext cx="7481068" cy="1619755"/>
            <a:chOff x="0" y="0"/>
            <a:chExt cx="9974758" cy="21596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974707" cy="2159635"/>
            </a:xfrm>
            <a:custGeom>
              <a:avLst/>
              <a:gdLst/>
              <a:ahLst/>
              <a:cxnLst/>
              <a:rect l="l" t="t" r="r" b="b"/>
              <a:pathLst>
                <a:path w="9974707" h="2159635">
                  <a:moveTo>
                    <a:pt x="0" y="359918"/>
                  </a:moveTo>
                  <a:cubicBezTo>
                    <a:pt x="0" y="161163"/>
                    <a:pt x="161163" y="0"/>
                    <a:pt x="359918" y="0"/>
                  </a:cubicBezTo>
                  <a:lnTo>
                    <a:pt x="9614789" y="0"/>
                  </a:lnTo>
                  <a:cubicBezTo>
                    <a:pt x="9813544" y="0"/>
                    <a:pt x="9974707" y="161163"/>
                    <a:pt x="9974707" y="359918"/>
                  </a:cubicBezTo>
                  <a:lnTo>
                    <a:pt x="9974707" y="1799717"/>
                  </a:lnTo>
                  <a:cubicBezTo>
                    <a:pt x="9974707" y="1998472"/>
                    <a:pt x="9813544" y="2159635"/>
                    <a:pt x="9614789" y="2159635"/>
                  </a:cubicBezTo>
                  <a:lnTo>
                    <a:pt x="359918" y="2159635"/>
                  </a:lnTo>
                  <a:cubicBezTo>
                    <a:pt x="161163" y="2159635"/>
                    <a:pt x="0" y="1998472"/>
                    <a:pt x="0" y="179971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887779" y="3073094"/>
            <a:ext cx="80079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58465" y="2882179"/>
            <a:ext cx="3519535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Nền</a:t>
            </a:r>
            <a:r>
              <a:rPr lang="en-US" sz="3000" b="1" dirty="0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tảng</a:t>
            </a:r>
            <a:r>
              <a:rPr lang="en-US" sz="3000" b="1" dirty="0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công</a:t>
            </a:r>
            <a:r>
              <a:rPr lang="en-US" sz="3000" b="1" dirty="0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nghệ</a:t>
            </a:r>
            <a:endParaRPr lang="en-US" sz="3000" b="1" dirty="0">
              <a:solidFill>
                <a:srgbClr val="1D374C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958465" y="3454508"/>
            <a:ext cx="546788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ASP.NET Core MVC và hệ sinh thái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04039" y="4667088"/>
            <a:ext cx="7481068" cy="1619755"/>
            <a:chOff x="0" y="0"/>
            <a:chExt cx="9974758" cy="215967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974707" cy="2159635"/>
            </a:xfrm>
            <a:custGeom>
              <a:avLst/>
              <a:gdLst/>
              <a:ahLst/>
              <a:cxnLst/>
              <a:rect l="l" t="t" r="r" b="b"/>
              <a:pathLst>
                <a:path w="9974707" h="2159635">
                  <a:moveTo>
                    <a:pt x="0" y="359918"/>
                  </a:moveTo>
                  <a:cubicBezTo>
                    <a:pt x="0" y="161163"/>
                    <a:pt x="161163" y="0"/>
                    <a:pt x="359918" y="0"/>
                  </a:cubicBezTo>
                  <a:lnTo>
                    <a:pt x="9614789" y="0"/>
                  </a:lnTo>
                  <a:cubicBezTo>
                    <a:pt x="9813544" y="0"/>
                    <a:pt x="9974707" y="161163"/>
                    <a:pt x="9974707" y="359918"/>
                  </a:cubicBezTo>
                  <a:lnTo>
                    <a:pt x="9974707" y="1799717"/>
                  </a:lnTo>
                  <a:cubicBezTo>
                    <a:pt x="9974707" y="1998472"/>
                    <a:pt x="9813544" y="2159635"/>
                    <a:pt x="9614789" y="2159635"/>
                  </a:cubicBezTo>
                  <a:lnTo>
                    <a:pt x="359918" y="2159635"/>
                  </a:lnTo>
                  <a:cubicBezTo>
                    <a:pt x="161163" y="2159635"/>
                    <a:pt x="0" y="1998472"/>
                    <a:pt x="0" y="179971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54940" y="5200740"/>
            <a:ext cx="80079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22435" y="5009831"/>
            <a:ext cx="33379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Phân tích &amp; thiết kế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22435" y="5582150"/>
            <a:ext cx="546788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Yêu cầu, dữ liệu, kiến trúc, nghiệp vụ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540069" y="4667088"/>
            <a:ext cx="7481068" cy="1619755"/>
            <a:chOff x="0" y="0"/>
            <a:chExt cx="9974758" cy="215967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974707" cy="2159635"/>
            </a:xfrm>
            <a:custGeom>
              <a:avLst/>
              <a:gdLst/>
              <a:ahLst/>
              <a:cxnLst/>
              <a:rect l="l" t="t" r="r" b="b"/>
              <a:pathLst>
                <a:path w="9974707" h="2159635">
                  <a:moveTo>
                    <a:pt x="0" y="359918"/>
                  </a:moveTo>
                  <a:cubicBezTo>
                    <a:pt x="0" y="161163"/>
                    <a:pt x="161163" y="0"/>
                    <a:pt x="359918" y="0"/>
                  </a:cubicBezTo>
                  <a:lnTo>
                    <a:pt x="9614789" y="0"/>
                  </a:lnTo>
                  <a:cubicBezTo>
                    <a:pt x="9813544" y="0"/>
                    <a:pt x="9974707" y="161163"/>
                    <a:pt x="9974707" y="359918"/>
                  </a:cubicBezTo>
                  <a:lnTo>
                    <a:pt x="9974707" y="1799717"/>
                  </a:lnTo>
                  <a:cubicBezTo>
                    <a:pt x="9974707" y="1998472"/>
                    <a:pt x="9813544" y="2159635"/>
                    <a:pt x="9614789" y="2159635"/>
                  </a:cubicBezTo>
                  <a:lnTo>
                    <a:pt x="359918" y="2159635"/>
                  </a:lnTo>
                  <a:cubicBezTo>
                    <a:pt x="161163" y="2159635"/>
                    <a:pt x="0" y="1998472"/>
                    <a:pt x="0" y="179971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887779" y="5200740"/>
            <a:ext cx="80079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58465" y="5009831"/>
            <a:ext cx="301918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Kết quả triển khai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58465" y="5582150"/>
            <a:ext cx="546788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Các nhóm giao diện và kiểm tra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422059" y="6863363"/>
            <a:ext cx="7481068" cy="1619755"/>
            <a:chOff x="0" y="0"/>
            <a:chExt cx="9974758" cy="215967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974707" cy="2159635"/>
            </a:xfrm>
            <a:custGeom>
              <a:avLst/>
              <a:gdLst/>
              <a:ahLst/>
              <a:cxnLst/>
              <a:rect l="l" t="t" r="r" b="b"/>
              <a:pathLst>
                <a:path w="9974707" h="2159635">
                  <a:moveTo>
                    <a:pt x="0" y="359918"/>
                  </a:moveTo>
                  <a:cubicBezTo>
                    <a:pt x="0" y="161163"/>
                    <a:pt x="161163" y="0"/>
                    <a:pt x="359918" y="0"/>
                  </a:cubicBezTo>
                  <a:lnTo>
                    <a:pt x="9614789" y="0"/>
                  </a:lnTo>
                  <a:cubicBezTo>
                    <a:pt x="9813544" y="0"/>
                    <a:pt x="9974707" y="161163"/>
                    <a:pt x="9974707" y="359918"/>
                  </a:cubicBezTo>
                  <a:lnTo>
                    <a:pt x="9974707" y="1799717"/>
                  </a:lnTo>
                  <a:cubicBezTo>
                    <a:pt x="9974707" y="1998472"/>
                    <a:pt x="9813544" y="2159635"/>
                    <a:pt x="9614789" y="2159635"/>
                  </a:cubicBezTo>
                  <a:lnTo>
                    <a:pt x="359918" y="2159635"/>
                  </a:lnTo>
                  <a:cubicBezTo>
                    <a:pt x="161163" y="2159635"/>
                    <a:pt x="0" y="1998472"/>
                    <a:pt x="0" y="179971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746990" y="7410107"/>
            <a:ext cx="80079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40445" y="7206105"/>
            <a:ext cx="351782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Kết luận &amp; phát triển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40445" y="7778425"/>
            <a:ext cx="546788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Thành tựu, giới hạn, bước tiếp theo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  <p:pic>
        <p:nvPicPr>
          <p:cNvPr id="40" name="Audio 39">
            <a:extLst>
              <a:ext uri="{FF2B5EF4-FFF2-40B4-BE49-F238E27FC236}">
                <a16:creationId xmlns:a16="http://schemas.microsoft.com/office/drawing/2014/main" id="{AA4DCEAE-23A3-782F-828E-FB73EC53F9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65"/>
    </mc:Choice>
    <mc:Fallback xmlns="">
      <p:transition spd="slow" advTm="173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723790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Bối cảnh và lý do chọn đề tài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504840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2500" y="343167"/>
            <a:ext cx="466706" cy="466706"/>
            <a:chOff x="0" y="0"/>
            <a:chExt cx="622275" cy="622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64304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9147" y="892235"/>
            <a:ext cx="205902" cy="205902"/>
            <a:chOff x="0" y="0"/>
            <a:chExt cx="274536" cy="274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74" cy="274574"/>
            </a:xfrm>
            <a:custGeom>
              <a:avLst/>
              <a:gdLst/>
              <a:ahLst/>
              <a:cxnLst/>
              <a:rect l="l" t="t" r="r" b="b"/>
              <a:pathLst>
                <a:path w="274574" h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73617" y="2608078"/>
            <a:ext cx="4872990" cy="6245657"/>
            <a:chOff x="0" y="0"/>
            <a:chExt cx="6497320" cy="83275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97320" cy="8327517"/>
            </a:xfrm>
            <a:custGeom>
              <a:avLst/>
              <a:gdLst/>
              <a:ahLst/>
              <a:cxnLst/>
              <a:rect l="l" t="t" r="r" b="b"/>
              <a:pathLst>
                <a:path w="6497320" h="8327517">
                  <a:moveTo>
                    <a:pt x="0" y="1082929"/>
                  </a:moveTo>
                  <a:cubicBezTo>
                    <a:pt x="0" y="484886"/>
                    <a:pt x="484886" y="0"/>
                    <a:pt x="1082929" y="0"/>
                  </a:cubicBezTo>
                  <a:lnTo>
                    <a:pt x="5414391" y="0"/>
                  </a:lnTo>
                  <a:cubicBezTo>
                    <a:pt x="6012434" y="0"/>
                    <a:pt x="6497320" y="484886"/>
                    <a:pt x="6497320" y="1082929"/>
                  </a:cubicBezTo>
                  <a:lnTo>
                    <a:pt x="6497320" y="7244588"/>
                  </a:lnTo>
                  <a:cubicBezTo>
                    <a:pt x="6497320" y="7842631"/>
                    <a:pt x="6012434" y="8327517"/>
                    <a:pt x="5414391" y="8327517"/>
                  </a:cubicBezTo>
                  <a:lnTo>
                    <a:pt x="1082929" y="8327517"/>
                  </a:lnTo>
                  <a:cubicBezTo>
                    <a:pt x="484886" y="8327517"/>
                    <a:pt x="0" y="7842758"/>
                    <a:pt x="0" y="7244588"/>
                  </a:cubicBezTo>
                  <a:close/>
                </a:path>
              </a:pathLst>
            </a:custGeom>
            <a:solidFill>
              <a:srgbClr val="FFE9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697216" y="3774853"/>
            <a:ext cx="1784471" cy="1784471"/>
            <a:chOff x="0" y="0"/>
            <a:chExt cx="2379294" cy="23792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79218" cy="2379218"/>
            </a:xfrm>
            <a:custGeom>
              <a:avLst/>
              <a:gdLst/>
              <a:ahLst/>
              <a:cxnLst/>
              <a:rect l="l" t="t" r="r" b="b"/>
              <a:pathLst>
                <a:path w="2379218" h="2379218">
                  <a:moveTo>
                    <a:pt x="0" y="1189609"/>
                  </a:moveTo>
                  <a:cubicBezTo>
                    <a:pt x="0" y="532638"/>
                    <a:pt x="532638" y="0"/>
                    <a:pt x="1189609" y="0"/>
                  </a:cubicBezTo>
                  <a:cubicBezTo>
                    <a:pt x="1846580" y="0"/>
                    <a:pt x="2379218" y="532638"/>
                    <a:pt x="2379218" y="1189609"/>
                  </a:cubicBezTo>
                  <a:cubicBezTo>
                    <a:pt x="2379218" y="1846580"/>
                    <a:pt x="1846580" y="2379218"/>
                    <a:pt x="1189609" y="2379218"/>
                  </a:cubicBezTo>
                  <a:cubicBezTo>
                    <a:pt x="532638" y="2379218"/>
                    <a:pt x="0" y="1846707"/>
                    <a:pt x="0" y="118960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863990" y="4639637"/>
            <a:ext cx="1070686" cy="1070686"/>
            <a:chOff x="0" y="0"/>
            <a:chExt cx="1427582" cy="14275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27480" cy="1427480"/>
            </a:xfrm>
            <a:custGeom>
              <a:avLst/>
              <a:gdLst/>
              <a:ahLst/>
              <a:cxnLst/>
              <a:rect l="l" t="t" r="r" b="b"/>
              <a:pathLst>
                <a:path w="1427480" h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FACC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54049" y="5490686"/>
            <a:ext cx="617706" cy="617706"/>
            <a:chOff x="0" y="0"/>
            <a:chExt cx="823608" cy="8236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3595" cy="823595"/>
            </a:xfrm>
            <a:custGeom>
              <a:avLst/>
              <a:gdLst/>
              <a:ahLst/>
              <a:cxnLst/>
              <a:rect l="l" t="t" r="r" b="b"/>
              <a:pathLst>
                <a:path w="823595" h="823595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cubicBezTo>
                    <a:pt x="639318" y="0"/>
                    <a:pt x="823595" y="184404"/>
                    <a:pt x="823595" y="411861"/>
                  </a:cubicBezTo>
                  <a:cubicBezTo>
                    <a:pt x="823595" y="639318"/>
                    <a:pt x="639191" y="823595"/>
                    <a:pt x="411861" y="823595"/>
                  </a:cubicBezTo>
                  <a:cubicBezTo>
                    <a:pt x="184531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468406" y="4369641"/>
            <a:ext cx="2173472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Bếp Nhà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72318" y="6703181"/>
            <a:ext cx="3889315" cy="114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Từ nhu cầu nấu ăn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đến một hệ thống số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có cấu trúc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3151003"/>
            <a:ext cx="1024141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Công thức rải rác có thể thiếu định lượng hoặc khó tìm lại theo nguyên liệu.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3989203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Khó làm theo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5741103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Thiếu kết nối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7119423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Nhu cầu quản lý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2608078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Khó tra cứu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4531428"/>
            <a:ext cx="984214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Các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bước nấu cần có thứ tự, khẩu phần và thời gian rõ ràng.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6281223"/>
            <a:ext cx="984214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Người dù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ng muốn chia sẻ trải nghiệm và theo dõi tác giả phù hợp.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7662348"/>
            <a:ext cx="1040581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Bài đăng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cộng đồng cần quyền sở hữu, kiểm soát nội dung và khả năng phục hồi.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  <p:pic>
        <p:nvPicPr>
          <p:cNvPr id="40" name="Audio 39">
            <a:extLst>
              <a:ext uri="{FF2B5EF4-FFF2-40B4-BE49-F238E27FC236}">
                <a16:creationId xmlns:a16="http://schemas.microsoft.com/office/drawing/2014/main" id="{625E6514-DA99-7ABC-53A7-4BAF62AB77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80"/>
    </mc:Choice>
    <mc:Fallback xmlns="">
      <p:transition spd="slow" advTm="353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Mục tiêu và phạm vi triển khai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824619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2500" y="343167"/>
            <a:ext cx="466706" cy="466706"/>
            <a:chOff x="0" y="0"/>
            <a:chExt cx="622275" cy="622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64304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9147" y="892235"/>
            <a:ext cx="205902" cy="205902"/>
            <a:chOff x="0" y="0"/>
            <a:chExt cx="274536" cy="274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74" cy="274574"/>
            </a:xfrm>
            <a:custGeom>
              <a:avLst/>
              <a:gdLst/>
              <a:ahLst/>
              <a:cxnLst/>
              <a:rect l="l" t="t" r="r" b="b"/>
              <a:pathLst>
                <a:path w="274574" h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73617" y="2608078"/>
            <a:ext cx="4872990" cy="6245657"/>
            <a:chOff x="0" y="0"/>
            <a:chExt cx="6497320" cy="83275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97320" cy="8327517"/>
            </a:xfrm>
            <a:custGeom>
              <a:avLst/>
              <a:gdLst/>
              <a:ahLst/>
              <a:cxnLst/>
              <a:rect l="l" t="t" r="r" b="b"/>
              <a:pathLst>
                <a:path w="6497320" h="8327517">
                  <a:moveTo>
                    <a:pt x="0" y="1082929"/>
                  </a:moveTo>
                  <a:cubicBezTo>
                    <a:pt x="0" y="484886"/>
                    <a:pt x="484886" y="0"/>
                    <a:pt x="1082929" y="0"/>
                  </a:cubicBezTo>
                  <a:lnTo>
                    <a:pt x="5414391" y="0"/>
                  </a:lnTo>
                  <a:cubicBezTo>
                    <a:pt x="6012434" y="0"/>
                    <a:pt x="6497320" y="484886"/>
                    <a:pt x="6497320" y="1082929"/>
                  </a:cubicBezTo>
                  <a:lnTo>
                    <a:pt x="6497320" y="7244588"/>
                  </a:lnTo>
                  <a:cubicBezTo>
                    <a:pt x="6497320" y="7842631"/>
                    <a:pt x="6012434" y="8327517"/>
                    <a:pt x="5414391" y="8327517"/>
                  </a:cubicBezTo>
                  <a:lnTo>
                    <a:pt x="1082929" y="8327517"/>
                  </a:lnTo>
                  <a:cubicBezTo>
                    <a:pt x="484886" y="8327517"/>
                    <a:pt x="0" y="7842758"/>
                    <a:pt x="0" y="7244588"/>
                  </a:cubicBezTo>
                  <a:close/>
                </a:path>
              </a:pathLst>
            </a:custGeom>
            <a:solidFill>
              <a:srgbClr val="E5F1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697216" y="3774853"/>
            <a:ext cx="1784471" cy="1784471"/>
            <a:chOff x="0" y="0"/>
            <a:chExt cx="2379294" cy="23792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79218" cy="2379218"/>
            </a:xfrm>
            <a:custGeom>
              <a:avLst/>
              <a:gdLst/>
              <a:ahLst/>
              <a:cxnLst/>
              <a:rect l="l" t="t" r="r" b="b"/>
              <a:pathLst>
                <a:path w="2379218" h="2379218">
                  <a:moveTo>
                    <a:pt x="0" y="1189609"/>
                  </a:moveTo>
                  <a:cubicBezTo>
                    <a:pt x="0" y="532638"/>
                    <a:pt x="532638" y="0"/>
                    <a:pt x="1189609" y="0"/>
                  </a:cubicBezTo>
                  <a:cubicBezTo>
                    <a:pt x="1846580" y="0"/>
                    <a:pt x="2379218" y="532638"/>
                    <a:pt x="2379218" y="1189609"/>
                  </a:cubicBezTo>
                  <a:cubicBezTo>
                    <a:pt x="2379218" y="1846580"/>
                    <a:pt x="1846580" y="2379218"/>
                    <a:pt x="1189609" y="2379218"/>
                  </a:cubicBezTo>
                  <a:cubicBezTo>
                    <a:pt x="532638" y="2379218"/>
                    <a:pt x="0" y="1846707"/>
                    <a:pt x="0" y="1189609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863990" y="4639637"/>
            <a:ext cx="1070686" cy="1070686"/>
            <a:chOff x="0" y="0"/>
            <a:chExt cx="1427582" cy="14275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27480" cy="1427480"/>
            </a:xfrm>
            <a:custGeom>
              <a:avLst/>
              <a:gdLst/>
              <a:ahLst/>
              <a:cxnLst/>
              <a:rect l="l" t="t" r="r" b="b"/>
              <a:pathLst>
                <a:path w="1427480" h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FACC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54049" y="5490686"/>
            <a:ext cx="617706" cy="617706"/>
            <a:chOff x="0" y="0"/>
            <a:chExt cx="823608" cy="8236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3595" cy="823595"/>
            </a:xfrm>
            <a:custGeom>
              <a:avLst/>
              <a:gdLst/>
              <a:ahLst/>
              <a:cxnLst/>
              <a:rect l="l" t="t" r="r" b="b"/>
              <a:pathLst>
                <a:path w="823595" h="823595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cubicBezTo>
                    <a:pt x="639318" y="0"/>
                    <a:pt x="823595" y="184404"/>
                    <a:pt x="823595" y="411861"/>
                  </a:cubicBezTo>
                  <a:cubicBezTo>
                    <a:pt x="823595" y="639318"/>
                    <a:pt x="639191" y="823595"/>
                    <a:pt x="411861" y="823595"/>
                  </a:cubicBezTo>
                  <a:cubicBezTo>
                    <a:pt x="184531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468406" y="4369641"/>
            <a:ext cx="2173472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Bếp Nhà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72318" y="6703181"/>
            <a:ext cx="3889315" cy="114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Từ nhu cầu nấu ăn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đến một hệ thống số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có cấu trúc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3208401"/>
            <a:ext cx="1024141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Phân tích, thiết kế và xây dựng website Bếp Nhà chạy với SQL Server.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4046601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C</a:t>
            </a: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hức năng cốt lõi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5798501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P</a:t>
            </a: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hạm vi thử nghiệm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7176821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Ngoài phạm vi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2665476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Mục tiêu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4588826"/>
            <a:ext cx="984214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Tài khoản,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hồ sơ, công thức, danh mục, tìm kiếm, đánh giá, theo dõi và quản trị.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6338621"/>
            <a:ext cx="984214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Windows,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SQL Server LocalDB, ảnh lưu trên máy chủ ứng dụng.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7719746"/>
            <a:ext cx="1040581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Video theo từng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bước, nhắn tin trực tiếp, thanh toán và ứng dụng di động độc lập.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  <p:pic>
        <p:nvPicPr>
          <p:cNvPr id="42" name="Audio 41">
            <a:extLst>
              <a:ext uri="{FF2B5EF4-FFF2-40B4-BE49-F238E27FC236}">
                <a16:creationId xmlns:a16="http://schemas.microsoft.com/office/drawing/2014/main" id="{7E4015B9-9029-5DFD-9060-EB9FFB70AF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40"/>
    </mc:Choice>
    <mc:Fallback xmlns="">
      <p:transition spd="slow" advTm="406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Nền tảng công nghệ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826895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93686" y="329441"/>
            <a:ext cx="411804" cy="411804"/>
            <a:chOff x="0" y="0"/>
            <a:chExt cx="549072" cy="5490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9021" cy="549021"/>
            </a:xfrm>
            <a:custGeom>
              <a:avLst/>
              <a:gdLst/>
              <a:ahLst/>
              <a:cxnLst/>
              <a:rect l="l" t="t" r="r" b="b"/>
              <a:pathLst>
                <a:path w="549021" h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E5F1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405490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9941" y="2470814"/>
            <a:ext cx="15099392" cy="933421"/>
            <a:chOff x="0" y="0"/>
            <a:chExt cx="20132523" cy="12445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132548" cy="1244473"/>
            </a:xfrm>
            <a:custGeom>
              <a:avLst/>
              <a:gdLst/>
              <a:ahLst/>
              <a:cxnLst/>
              <a:rect l="l" t="t" r="r" b="b"/>
              <a:pathLst>
                <a:path w="20132548" h="1244473">
                  <a:moveTo>
                    <a:pt x="0" y="207391"/>
                  </a:moveTo>
                  <a:cubicBezTo>
                    <a:pt x="0" y="92837"/>
                    <a:pt x="92837" y="0"/>
                    <a:pt x="207391" y="0"/>
                  </a:cubicBezTo>
                  <a:lnTo>
                    <a:pt x="19925157" y="0"/>
                  </a:lnTo>
                  <a:cubicBezTo>
                    <a:pt x="20039712" y="0"/>
                    <a:pt x="20132548" y="92837"/>
                    <a:pt x="20132548" y="207391"/>
                  </a:cubicBezTo>
                  <a:lnTo>
                    <a:pt x="20132548" y="1037082"/>
                  </a:lnTo>
                  <a:cubicBezTo>
                    <a:pt x="20132548" y="1151636"/>
                    <a:pt x="20039712" y="1244473"/>
                    <a:pt x="19925157" y="1244473"/>
                  </a:cubicBezTo>
                  <a:lnTo>
                    <a:pt x="207391" y="1244473"/>
                  </a:lnTo>
                  <a:cubicBezTo>
                    <a:pt x="92837" y="1244600"/>
                    <a:pt x="0" y="1151636"/>
                    <a:pt x="0" y="1037082"/>
                  </a:cubicBezTo>
                  <a:close/>
                </a:path>
              </a:pathLst>
            </a:custGeom>
            <a:solidFill>
              <a:srgbClr val="E5F1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940004" y="2708700"/>
            <a:ext cx="163961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latin typeface="Aptos Bold"/>
                <a:ea typeface="Aptos Bold"/>
                <a:cs typeface="Aptos Bold"/>
                <a:sym typeface="Aptos Bold"/>
              </a:rPr>
              <a:t>Giao </a:t>
            </a:r>
            <a:r>
              <a:rPr lang="en-US" sz="3000" b="1" dirty="0" err="1">
                <a:latin typeface="Aptos Bold"/>
                <a:ea typeface="Aptos Bold"/>
                <a:cs typeface="Aptos Bold"/>
                <a:sym typeface="Aptos Bold"/>
              </a:rPr>
              <a:t>diện</a:t>
            </a:r>
            <a:endParaRPr lang="en-US" sz="3000" b="1" dirty="0"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536406" y="2757916"/>
            <a:ext cx="1040950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Razor View • HTML/CSS • Bootstrap • JavaScript/jQuery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509941" y="3719941"/>
            <a:ext cx="15099392" cy="933421"/>
            <a:chOff x="0" y="0"/>
            <a:chExt cx="20132523" cy="12445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132548" cy="1244473"/>
            </a:xfrm>
            <a:custGeom>
              <a:avLst/>
              <a:gdLst/>
              <a:ahLst/>
              <a:cxnLst/>
              <a:rect l="l" t="t" r="r" b="b"/>
              <a:pathLst>
                <a:path w="20132548" h="1244473">
                  <a:moveTo>
                    <a:pt x="0" y="207391"/>
                  </a:moveTo>
                  <a:cubicBezTo>
                    <a:pt x="0" y="92837"/>
                    <a:pt x="92837" y="0"/>
                    <a:pt x="207391" y="0"/>
                  </a:cubicBezTo>
                  <a:lnTo>
                    <a:pt x="19925157" y="0"/>
                  </a:lnTo>
                  <a:cubicBezTo>
                    <a:pt x="20039712" y="0"/>
                    <a:pt x="20132548" y="92837"/>
                    <a:pt x="20132548" y="207391"/>
                  </a:cubicBezTo>
                  <a:lnTo>
                    <a:pt x="20132548" y="1037082"/>
                  </a:lnTo>
                  <a:cubicBezTo>
                    <a:pt x="20132548" y="1151636"/>
                    <a:pt x="20039712" y="1244473"/>
                    <a:pt x="19925157" y="1244473"/>
                  </a:cubicBezTo>
                  <a:lnTo>
                    <a:pt x="207391" y="1244473"/>
                  </a:lnTo>
                  <a:cubicBezTo>
                    <a:pt x="92837" y="1244600"/>
                    <a:pt x="0" y="1151636"/>
                    <a:pt x="0" y="1037082"/>
                  </a:cubicBez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940004" y="3957838"/>
            <a:ext cx="1793796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latin typeface="Aptos Bold"/>
                <a:ea typeface="Aptos Bold"/>
                <a:cs typeface="Aptos Bold"/>
                <a:sym typeface="Aptos Bold"/>
              </a:rPr>
              <a:t>Ứng</a:t>
            </a:r>
            <a:r>
              <a:rPr lang="en-US" sz="3000" b="1" dirty="0"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latin typeface="Aptos Bold"/>
                <a:ea typeface="Aptos Bold"/>
                <a:cs typeface="Aptos Bold"/>
                <a:sym typeface="Aptos Bold"/>
              </a:rPr>
              <a:t>dụng</a:t>
            </a:r>
            <a:endParaRPr lang="en-US" sz="3000" b="1" dirty="0"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536406" y="4007053"/>
            <a:ext cx="1040950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C# • ASP.NET Core MVC • .NET 10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509941" y="4969078"/>
            <a:ext cx="15099392" cy="933421"/>
            <a:chOff x="0" y="0"/>
            <a:chExt cx="20132523" cy="124456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132548" cy="1244473"/>
            </a:xfrm>
            <a:custGeom>
              <a:avLst/>
              <a:gdLst/>
              <a:ahLst/>
              <a:cxnLst/>
              <a:rect l="l" t="t" r="r" b="b"/>
              <a:pathLst>
                <a:path w="20132548" h="1244473">
                  <a:moveTo>
                    <a:pt x="0" y="207391"/>
                  </a:moveTo>
                  <a:cubicBezTo>
                    <a:pt x="0" y="92837"/>
                    <a:pt x="92837" y="0"/>
                    <a:pt x="207391" y="0"/>
                  </a:cubicBezTo>
                  <a:lnTo>
                    <a:pt x="19925157" y="0"/>
                  </a:lnTo>
                  <a:cubicBezTo>
                    <a:pt x="20039712" y="0"/>
                    <a:pt x="20132548" y="92837"/>
                    <a:pt x="20132548" y="207391"/>
                  </a:cubicBezTo>
                  <a:lnTo>
                    <a:pt x="20132548" y="1037082"/>
                  </a:lnTo>
                  <a:cubicBezTo>
                    <a:pt x="20132548" y="1151636"/>
                    <a:pt x="20039712" y="1244473"/>
                    <a:pt x="19925157" y="1244473"/>
                  </a:cubicBezTo>
                  <a:lnTo>
                    <a:pt x="207391" y="1244473"/>
                  </a:lnTo>
                  <a:cubicBezTo>
                    <a:pt x="92837" y="1244600"/>
                    <a:pt x="0" y="1151636"/>
                    <a:pt x="0" y="1037082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40004" y="5205813"/>
            <a:ext cx="274058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latin typeface="Aptos Bold"/>
                <a:ea typeface="Aptos Bold"/>
                <a:cs typeface="Aptos Bold"/>
                <a:sym typeface="Aptos Bold"/>
              </a:rPr>
              <a:t>Truy cập dữ liệu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36406" y="5259576"/>
            <a:ext cx="1040950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Entity Framework Core 10.0.13 • LINQ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509941" y="6218206"/>
            <a:ext cx="15099392" cy="933421"/>
            <a:chOff x="0" y="0"/>
            <a:chExt cx="20132523" cy="124456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132548" cy="1244473"/>
            </a:xfrm>
            <a:custGeom>
              <a:avLst/>
              <a:gdLst/>
              <a:ahLst/>
              <a:cxnLst/>
              <a:rect l="l" t="t" r="r" b="b"/>
              <a:pathLst>
                <a:path w="20132548" h="1244473">
                  <a:moveTo>
                    <a:pt x="0" y="207391"/>
                  </a:moveTo>
                  <a:cubicBezTo>
                    <a:pt x="0" y="92837"/>
                    <a:pt x="92837" y="0"/>
                    <a:pt x="207391" y="0"/>
                  </a:cubicBezTo>
                  <a:lnTo>
                    <a:pt x="19925157" y="0"/>
                  </a:lnTo>
                  <a:cubicBezTo>
                    <a:pt x="20039712" y="0"/>
                    <a:pt x="20132548" y="92837"/>
                    <a:pt x="20132548" y="207391"/>
                  </a:cubicBezTo>
                  <a:lnTo>
                    <a:pt x="20132548" y="1037082"/>
                  </a:lnTo>
                  <a:cubicBezTo>
                    <a:pt x="20132548" y="1151636"/>
                    <a:pt x="20039712" y="1244473"/>
                    <a:pt x="19925157" y="1244473"/>
                  </a:cubicBezTo>
                  <a:lnTo>
                    <a:pt x="207391" y="1244473"/>
                  </a:lnTo>
                  <a:cubicBezTo>
                    <a:pt x="92837" y="1244600"/>
                    <a:pt x="0" y="1151636"/>
                    <a:pt x="0" y="1037082"/>
                  </a:cubicBezTo>
                  <a:close/>
                </a:path>
              </a:pathLst>
            </a:custGeom>
            <a:solidFill>
              <a:srgbClr val="FFE9E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940004" y="6454950"/>
            <a:ext cx="2409825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latin typeface="Aptos Bold"/>
                <a:ea typeface="Aptos Bold"/>
                <a:cs typeface="Aptos Bold"/>
                <a:sym typeface="Aptos Bold"/>
              </a:rPr>
              <a:t>Cơ</a:t>
            </a:r>
            <a:r>
              <a:rPr lang="en-US" sz="3000" b="1" dirty="0"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latin typeface="Aptos Bold"/>
                <a:ea typeface="Aptos Bold"/>
                <a:cs typeface="Aptos Bold"/>
                <a:sym typeface="Aptos Bold"/>
              </a:rPr>
              <a:t>sở</a:t>
            </a:r>
            <a:r>
              <a:rPr lang="en-US" sz="3000" b="1" dirty="0"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latin typeface="Aptos Bold"/>
                <a:ea typeface="Aptos Bold"/>
                <a:cs typeface="Aptos Bold"/>
                <a:sym typeface="Aptos Bold"/>
              </a:rPr>
              <a:t>dữ</a:t>
            </a:r>
            <a:r>
              <a:rPr lang="en-US" sz="3000" b="1" dirty="0"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latin typeface="Aptos Bold"/>
                <a:ea typeface="Aptos Bold"/>
                <a:cs typeface="Aptos Bold"/>
                <a:sym typeface="Aptos Bold"/>
              </a:rPr>
              <a:t>liệu</a:t>
            </a:r>
            <a:endParaRPr lang="en-US" sz="3000" b="1" dirty="0"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536406" y="6507337"/>
            <a:ext cx="1040950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SQL Server LocalDB • 7 bảng quan hệ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09941" y="7467333"/>
            <a:ext cx="15099392" cy="933421"/>
            <a:chOff x="0" y="0"/>
            <a:chExt cx="20132523" cy="124456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132548" cy="1244473"/>
            </a:xfrm>
            <a:custGeom>
              <a:avLst/>
              <a:gdLst/>
              <a:ahLst/>
              <a:cxnLst/>
              <a:rect l="l" t="t" r="r" b="b"/>
              <a:pathLst>
                <a:path w="20132548" h="1244473">
                  <a:moveTo>
                    <a:pt x="0" y="207391"/>
                  </a:moveTo>
                  <a:cubicBezTo>
                    <a:pt x="0" y="92837"/>
                    <a:pt x="92837" y="0"/>
                    <a:pt x="207391" y="0"/>
                  </a:cubicBezTo>
                  <a:lnTo>
                    <a:pt x="19925157" y="0"/>
                  </a:lnTo>
                  <a:cubicBezTo>
                    <a:pt x="20039712" y="0"/>
                    <a:pt x="20132548" y="92837"/>
                    <a:pt x="20132548" y="207391"/>
                  </a:cubicBezTo>
                  <a:lnTo>
                    <a:pt x="20132548" y="1037082"/>
                  </a:lnTo>
                  <a:cubicBezTo>
                    <a:pt x="20132548" y="1151636"/>
                    <a:pt x="20039712" y="1244473"/>
                    <a:pt x="19925157" y="1244473"/>
                  </a:cubicBezTo>
                  <a:lnTo>
                    <a:pt x="207391" y="1244473"/>
                  </a:lnTo>
                  <a:cubicBezTo>
                    <a:pt x="92837" y="1244600"/>
                    <a:pt x="0" y="1151636"/>
                    <a:pt x="0" y="1037082"/>
                  </a:cubicBezTo>
                  <a:close/>
                </a:path>
              </a:pathLst>
            </a:custGeom>
            <a:solidFill>
              <a:srgbClr val="E5F1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940004" y="7704077"/>
            <a:ext cx="240982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latin typeface="Aptos Bold"/>
                <a:ea typeface="Aptos Bold"/>
                <a:cs typeface="Aptos Bold"/>
                <a:sym typeface="Aptos Bold"/>
              </a:rPr>
              <a:t>Bảo mật &amp; tệp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36406" y="7756465"/>
            <a:ext cx="1040950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Cookie Authentication • BCrypt • kiểm tra JPG/PNG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pic>
        <p:nvPicPr>
          <p:cNvPr id="47" name="Audio 46">
            <a:extLst>
              <a:ext uri="{FF2B5EF4-FFF2-40B4-BE49-F238E27FC236}">
                <a16:creationId xmlns:a16="http://schemas.microsoft.com/office/drawing/2014/main" id="{2E263A6F-E8F1-67AF-D486-B5C269AF70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076"/>
    </mc:Choice>
    <mc:Fallback xmlns="">
      <p:transition spd="slow" advTm="580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1034044"/>
            <a:ext cx="16106099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3"/>
              </a:lnSpc>
            </a:pPr>
            <a:r>
              <a:rPr lang="en-US" sz="4003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Các tác nhân và nhóm chức năng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834144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2500" y="343167"/>
            <a:ext cx="466706" cy="466706"/>
            <a:chOff x="0" y="0"/>
            <a:chExt cx="622275" cy="622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64304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9147" y="892235"/>
            <a:ext cx="205902" cy="205902"/>
            <a:chOff x="0" y="0"/>
            <a:chExt cx="274536" cy="274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74" cy="274574"/>
            </a:xfrm>
            <a:custGeom>
              <a:avLst/>
              <a:gdLst/>
              <a:ahLst/>
              <a:cxnLst/>
              <a:rect l="l" t="t" r="r" b="b"/>
              <a:pathLst>
                <a:path w="274574" h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829206" y="2058962"/>
            <a:ext cx="10891729" cy="7350150"/>
          </a:xfrm>
          <a:custGeom>
            <a:avLst/>
            <a:gdLst/>
            <a:ahLst/>
            <a:cxnLst/>
            <a:rect l="l" t="t" r="r" b="b"/>
            <a:pathLst>
              <a:path w="10891729" h="7350150">
                <a:moveTo>
                  <a:pt x="0" y="0"/>
                </a:moveTo>
                <a:lnTo>
                  <a:pt x="10891729" y="0"/>
                </a:lnTo>
                <a:lnTo>
                  <a:pt x="10891729" y="7350150"/>
                </a:lnTo>
                <a:lnTo>
                  <a:pt x="0" y="735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2098176" y="2058962"/>
            <a:ext cx="5161124" cy="2366982"/>
            <a:chOff x="0" y="0"/>
            <a:chExt cx="1359308" cy="6234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59308" cy="623403"/>
            </a:xfrm>
            <a:custGeom>
              <a:avLst/>
              <a:gdLst/>
              <a:ahLst/>
              <a:cxnLst/>
              <a:rect l="l" t="t" r="r" b="b"/>
              <a:pathLst>
                <a:path w="1359308" h="623403">
                  <a:moveTo>
                    <a:pt x="0" y="0"/>
                  </a:moveTo>
                  <a:lnTo>
                    <a:pt x="1359308" y="0"/>
                  </a:lnTo>
                  <a:lnTo>
                    <a:pt x="1359308" y="623403"/>
                  </a:lnTo>
                  <a:lnTo>
                    <a:pt x="0" y="623403"/>
                  </a:ln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359308" cy="613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098176" y="4425944"/>
            <a:ext cx="5161124" cy="2366982"/>
            <a:chOff x="0" y="0"/>
            <a:chExt cx="1359308" cy="6234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59308" cy="623403"/>
            </a:xfrm>
            <a:custGeom>
              <a:avLst/>
              <a:gdLst/>
              <a:ahLst/>
              <a:cxnLst/>
              <a:rect l="l" t="t" r="r" b="b"/>
              <a:pathLst>
                <a:path w="1359308" h="623403">
                  <a:moveTo>
                    <a:pt x="0" y="0"/>
                  </a:moveTo>
                  <a:lnTo>
                    <a:pt x="1359308" y="0"/>
                  </a:lnTo>
                  <a:lnTo>
                    <a:pt x="1359308" y="623403"/>
                  </a:lnTo>
                  <a:lnTo>
                    <a:pt x="0" y="623403"/>
                  </a:ln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1359308" cy="613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149967" y="2220620"/>
            <a:ext cx="290667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>
                <a:solidFill>
                  <a:srgbClr val="FAF8F2"/>
                </a:solidFill>
                <a:latin typeface="Aptos Bold"/>
                <a:ea typeface="Aptos Bold"/>
                <a:cs typeface="Aptos Bold"/>
                <a:sym typeface="Aptos Bold"/>
              </a:rPr>
              <a:t>Khách vãng lai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87063" y="2792120"/>
            <a:ext cx="4621635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Xem công thức công khai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Tìm theo tên món/nguyên liệu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Lọc danh mục, độ khó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Đăng ký hoặc đăng nhập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90983" y="4525823"/>
            <a:ext cx="217551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3499" b="1">
                <a:solidFill>
                  <a:srgbClr val="FAF8F2"/>
                </a:solidFill>
                <a:latin typeface="Aptos Bold"/>
                <a:ea typeface="Aptos Bold"/>
                <a:cs typeface="Aptos Bold"/>
                <a:sym typeface="Aptos Bold"/>
              </a:rPr>
              <a:t>Thành viên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87063" y="5159102"/>
            <a:ext cx="4772237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Tạo, sửa, xóa mềm bài của mình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Đánh giá công thức người khác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Theo dõi tác giả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Xem bảng tin và cập nhật hồ sơ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098176" y="6792925"/>
            <a:ext cx="5161124" cy="2366982"/>
            <a:chOff x="0" y="0"/>
            <a:chExt cx="1359308" cy="62340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59308" cy="623403"/>
            </a:xfrm>
            <a:custGeom>
              <a:avLst/>
              <a:gdLst/>
              <a:ahLst/>
              <a:cxnLst/>
              <a:rect l="l" t="t" r="r" b="b"/>
              <a:pathLst>
                <a:path w="1359308" h="623403">
                  <a:moveTo>
                    <a:pt x="0" y="0"/>
                  </a:moveTo>
                  <a:lnTo>
                    <a:pt x="1359308" y="0"/>
                  </a:lnTo>
                  <a:lnTo>
                    <a:pt x="1359308" y="623403"/>
                  </a:lnTo>
                  <a:lnTo>
                    <a:pt x="0" y="623403"/>
                  </a:lnTo>
                  <a:close/>
                </a:path>
              </a:pathLst>
            </a:custGeom>
            <a:solidFill>
              <a:srgbClr val="1D37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1359308" cy="613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326358" y="6957060"/>
            <a:ext cx="255389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3499" b="1" u="none" strike="noStrike">
                <a:solidFill>
                  <a:srgbClr val="FAF8F2"/>
                </a:solidFill>
                <a:latin typeface="Aptos Bold"/>
                <a:ea typeface="Aptos Bold"/>
                <a:cs typeface="Aptos Bold"/>
                <a:sym typeface="Aptos Bold"/>
              </a:rPr>
              <a:t>Quản trị viên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87063" y="7528560"/>
            <a:ext cx="4772237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Ẩn/hiện và phục hồi công thức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Quản lý đánh giá, danh mục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Khóa/mở khóa tài khoản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Dùng giao diện quản trị riêng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pic>
        <p:nvPicPr>
          <p:cNvPr id="41" name="Audio 40">
            <a:extLst>
              <a:ext uri="{FF2B5EF4-FFF2-40B4-BE49-F238E27FC236}">
                <a16:creationId xmlns:a16="http://schemas.microsoft.com/office/drawing/2014/main" id="{17A660EB-1E28-7CB5-1431-48D6F178FD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552"/>
    </mc:Choice>
    <mc:Fallback xmlns="">
      <p:transition spd="slow" advTm="605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5588" y="1825733"/>
            <a:ext cx="15991637" cy="34319"/>
            <a:chOff x="0" y="0"/>
            <a:chExt cx="21322182" cy="457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93686" y="329441"/>
            <a:ext cx="411804" cy="411804"/>
            <a:chOff x="0" y="0"/>
            <a:chExt cx="549072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9021" cy="549021"/>
            </a:xfrm>
            <a:custGeom>
              <a:avLst/>
              <a:gdLst/>
              <a:ahLst/>
              <a:cxnLst/>
              <a:rect l="l" t="t" r="r" b="b"/>
              <a:pathLst>
                <a:path w="549021" h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E5F1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05490" y="754971"/>
            <a:ext cx="247079" cy="247079"/>
            <a:chOff x="0" y="0"/>
            <a:chExt cx="329438" cy="3294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2682243" y="2288298"/>
            <a:ext cx="13084230" cy="6006550"/>
          </a:xfrm>
          <a:custGeom>
            <a:avLst/>
            <a:gdLst/>
            <a:ahLst/>
            <a:cxnLst/>
            <a:rect l="l" t="t" r="r" b="b"/>
            <a:pathLst>
              <a:path w="13084230" h="6006550">
                <a:moveTo>
                  <a:pt x="0" y="0"/>
                </a:moveTo>
                <a:lnTo>
                  <a:pt x="13084230" y="0"/>
                </a:lnTo>
                <a:lnTo>
                  <a:pt x="13084230" y="6006551"/>
                </a:lnTo>
                <a:lnTo>
                  <a:pt x="0" y="60065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223" b="-73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Kiến trúc xử lý của Bếp Nhà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pic>
        <p:nvPicPr>
          <p:cNvPr id="16" name="Audio 15">
            <a:extLst>
              <a:ext uri="{FF2B5EF4-FFF2-40B4-BE49-F238E27FC236}">
                <a16:creationId xmlns:a16="http://schemas.microsoft.com/office/drawing/2014/main" id="{97A6080D-D913-5F85-91A4-FD92FDA960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179"/>
    </mc:Choice>
    <mc:Fallback xmlns="">
      <p:transition spd="slow" advTm="1211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Các yêu cầu chức năng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822237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2500" y="343167"/>
            <a:ext cx="466706" cy="466706"/>
            <a:chOff x="0" y="0"/>
            <a:chExt cx="622275" cy="622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64304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9147" y="892235"/>
            <a:ext cx="205902" cy="205902"/>
            <a:chOff x="0" y="0"/>
            <a:chExt cx="274536" cy="274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74" cy="274574"/>
            </a:xfrm>
            <a:custGeom>
              <a:avLst/>
              <a:gdLst/>
              <a:ahLst/>
              <a:cxnLst/>
              <a:rect l="l" t="t" r="r" b="b"/>
              <a:pathLst>
                <a:path w="274574" h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73617" y="2608078"/>
            <a:ext cx="4872990" cy="6245657"/>
            <a:chOff x="0" y="0"/>
            <a:chExt cx="6497320" cy="83275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97320" cy="8327517"/>
            </a:xfrm>
            <a:custGeom>
              <a:avLst/>
              <a:gdLst/>
              <a:ahLst/>
              <a:cxnLst/>
              <a:rect l="l" t="t" r="r" b="b"/>
              <a:pathLst>
                <a:path w="6497320" h="8327517">
                  <a:moveTo>
                    <a:pt x="0" y="1082929"/>
                  </a:moveTo>
                  <a:cubicBezTo>
                    <a:pt x="0" y="484886"/>
                    <a:pt x="484886" y="0"/>
                    <a:pt x="1082929" y="0"/>
                  </a:cubicBezTo>
                  <a:lnTo>
                    <a:pt x="5414391" y="0"/>
                  </a:lnTo>
                  <a:cubicBezTo>
                    <a:pt x="6012434" y="0"/>
                    <a:pt x="6497320" y="484886"/>
                    <a:pt x="6497320" y="1082929"/>
                  </a:cubicBezTo>
                  <a:lnTo>
                    <a:pt x="6497320" y="7244588"/>
                  </a:lnTo>
                  <a:cubicBezTo>
                    <a:pt x="6497320" y="7842631"/>
                    <a:pt x="6012434" y="8327517"/>
                    <a:pt x="5414391" y="8327517"/>
                  </a:cubicBezTo>
                  <a:lnTo>
                    <a:pt x="1082929" y="8327517"/>
                  </a:lnTo>
                  <a:cubicBezTo>
                    <a:pt x="484886" y="8327517"/>
                    <a:pt x="0" y="7842758"/>
                    <a:pt x="0" y="7244588"/>
                  </a:cubicBezTo>
                  <a:close/>
                </a:path>
              </a:pathLst>
            </a:custGeom>
            <a:solidFill>
              <a:srgbClr val="E5F1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697216" y="3774853"/>
            <a:ext cx="1784471" cy="1784471"/>
            <a:chOff x="0" y="0"/>
            <a:chExt cx="2379294" cy="23792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79218" cy="2379218"/>
            </a:xfrm>
            <a:custGeom>
              <a:avLst/>
              <a:gdLst/>
              <a:ahLst/>
              <a:cxnLst/>
              <a:rect l="l" t="t" r="r" b="b"/>
              <a:pathLst>
                <a:path w="2379218" h="2379218">
                  <a:moveTo>
                    <a:pt x="0" y="1189609"/>
                  </a:moveTo>
                  <a:cubicBezTo>
                    <a:pt x="0" y="532638"/>
                    <a:pt x="532638" y="0"/>
                    <a:pt x="1189609" y="0"/>
                  </a:cubicBezTo>
                  <a:cubicBezTo>
                    <a:pt x="1846580" y="0"/>
                    <a:pt x="2379218" y="532638"/>
                    <a:pt x="2379218" y="1189609"/>
                  </a:cubicBezTo>
                  <a:cubicBezTo>
                    <a:pt x="2379218" y="1846580"/>
                    <a:pt x="1846580" y="2379218"/>
                    <a:pt x="1189609" y="2379218"/>
                  </a:cubicBezTo>
                  <a:cubicBezTo>
                    <a:pt x="532638" y="2379218"/>
                    <a:pt x="0" y="1846707"/>
                    <a:pt x="0" y="1189609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863990" y="4639637"/>
            <a:ext cx="1070686" cy="1070686"/>
            <a:chOff x="0" y="0"/>
            <a:chExt cx="1427582" cy="14275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27480" cy="1427480"/>
            </a:xfrm>
            <a:custGeom>
              <a:avLst/>
              <a:gdLst/>
              <a:ahLst/>
              <a:cxnLst/>
              <a:rect l="l" t="t" r="r" b="b"/>
              <a:pathLst>
                <a:path w="1427480" h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FACC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54049" y="5490686"/>
            <a:ext cx="617706" cy="617706"/>
            <a:chOff x="0" y="0"/>
            <a:chExt cx="823608" cy="8236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3595" cy="823595"/>
            </a:xfrm>
            <a:custGeom>
              <a:avLst/>
              <a:gdLst/>
              <a:ahLst/>
              <a:cxnLst/>
              <a:rect l="l" t="t" r="r" b="b"/>
              <a:pathLst>
                <a:path w="823595" h="823595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cubicBezTo>
                    <a:pt x="639318" y="0"/>
                    <a:pt x="823595" y="184404"/>
                    <a:pt x="823595" y="411861"/>
                  </a:cubicBezTo>
                  <a:cubicBezTo>
                    <a:pt x="823595" y="639318"/>
                    <a:pt x="639191" y="823595"/>
                    <a:pt x="411861" y="823595"/>
                  </a:cubicBezTo>
                  <a:cubicBezTo>
                    <a:pt x="184531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468406" y="4369641"/>
            <a:ext cx="2173472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Bếp Nhà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72318" y="6703181"/>
            <a:ext cx="3889315" cy="114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Từ nhu cầu nấu ăn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đến một hệ thống số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có cấu trúc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3394139"/>
            <a:ext cx="1024141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Tìm theo tên món hoặc nguyên liệu; kết hợp danh mục, độ khó và sắp xếp.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4232338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Quản lý công thức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5612763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Cộng đồng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6991083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Quản trị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2851214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Tra cứu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4774563"/>
            <a:ext cx="984214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Tạo,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sửa, xóa mềm; nhiều dòng nguyên liệu và các bước nấu.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6152883"/>
            <a:ext cx="984214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Đánh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giá 1–5 sao, nhận xét, theo dõi tác giả và xem bảng tin.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7534008"/>
            <a:ext cx="104058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Ẩn/hiện, phục hồi nội dung;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quản lý danh mục, đánh giá và tài khoản.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  <p:pic>
        <p:nvPicPr>
          <p:cNvPr id="35" name="Audio 34">
            <a:extLst>
              <a:ext uri="{FF2B5EF4-FFF2-40B4-BE49-F238E27FC236}">
                <a16:creationId xmlns:a16="http://schemas.microsoft.com/office/drawing/2014/main" id="{D700E9A2-8373-A334-B515-BA1B1E9FBD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89"/>
    </mc:Choice>
    <mc:Fallback xmlns="">
      <p:transition spd="slow" advTm="361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Quy tắc nghiệp vụ và chất lượng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824619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2500" y="343167"/>
            <a:ext cx="466706" cy="466706"/>
            <a:chOff x="0" y="0"/>
            <a:chExt cx="622275" cy="622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64304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9147" y="892235"/>
            <a:ext cx="205902" cy="205902"/>
            <a:chOff x="0" y="0"/>
            <a:chExt cx="274536" cy="274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74" cy="274574"/>
            </a:xfrm>
            <a:custGeom>
              <a:avLst/>
              <a:gdLst/>
              <a:ahLst/>
              <a:cxnLst/>
              <a:rect l="l" t="t" r="r" b="b"/>
              <a:pathLst>
                <a:path w="274574" h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73617" y="2608078"/>
            <a:ext cx="4872990" cy="6245657"/>
            <a:chOff x="0" y="0"/>
            <a:chExt cx="6497320" cy="83275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97320" cy="8327517"/>
            </a:xfrm>
            <a:custGeom>
              <a:avLst/>
              <a:gdLst/>
              <a:ahLst/>
              <a:cxnLst/>
              <a:rect l="l" t="t" r="r" b="b"/>
              <a:pathLst>
                <a:path w="6497320" h="8327517">
                  <a:moveTo>
                    <a:pt x="0" y="1082929"/>
                  </a:moveTo>
                  <a:cubicBezTo>
                    <a:pt x="0" y="484886"/>
                    <a:pt x="484886" y="0"/>
                    <a:pt x="1082929" y="0"/>
                  </a:cubicBezTo>
                  <a:lnTo>
                    <a:pt x="5414391" y="0"/>
                  </a:lnTo>
                  <a:cubicBezTo>
                    <a:pt x="6012434" y="0"/>
                    <a:pt x="6497320" y="484886"/>
                    <a:pt x="6497320" y="1082929"/>
                  </a:cubicBezTo>
                  <a:lnTo>
                    <a:pt x="6497320" y="7244588"/>
                  </a:lnTo>
                  <a:cubicBezTo>
                    <a:pt x="6497320" y="7842631"/>
                    <a:pt x="6012434" y="8327517"/>
                    <a:pt x="5414391" y="8327517"/>
                  </a:cubicBezTo>
                  <a:lnTo>
                    <a:pt x="1082929" y="8327517"/>
                  </a:lnTo>
                  <a:cubicBezTo>
                    <a:pt x="484886" y="8327517"/>
                    <a:pt x="0" y="7842758"/>
                    <a:pt x="0" y="7244588"/>
                  </a:cubicBezTo>
                  <a:close/>
                </a:path>
              </a:pathLst>
            </a:custGeom>
            <a:solidFill>
              <a:srgbClr val="FFE9E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372318" y="3038142"/>
            <a:ext cx="3889315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ĐIỂM NHẤN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697216" y="3774853"/>
            <a:ext cx="1784471" cy="1784471"/>
            <a:chOff x="0" y="0"/>
            <a:chExt cx="2379294" cy="237929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79218" cy="2379218"/>
            </a:xfrm>
            <a:custGeom>
              <a:avLst/>
              <a:gdLst/>
              <a:ahLst/>
              <a:cxnLst/>
              <a:rect l="l" t="t" r="r" b="b"/>
              <a:pathLst>
                <a:path w="2379218" h="2379218">
                  <a:moveTo>
                    <a:pt x="0" y="1189609"/>
                  </a:moveTo>
                  <a:cubicBezTo>
                    <a:pt x="0" y="532638"/>
                    <a:pt x="532638" y="0"/>
                    <a:pt x="1189609" y="0"/>
                  </a:cubicBezTo>
                  <a:cubicBezTo>
                    <a:pt x="1846580" y="0"/>
                    <a:pt x="2379218" y="532638"/>
                    <a:pt x="2379218" y="1189609"/>
                  </a:cubicBezTo>
                  <a:cubicBezTo>
                    <a:pt x="2379218" y="1846580"/>
                    <a:pt x="1846580" y="2379218"/>
                    <a:pt x="1189609" y="2379218"/>
                  </a:cubicBezTo>
                  <a:cubicBezTo>
                    <a:pt x="532638" y="2379218"/>
                    <a:pt x="0" y="1846707"/>
                    <a:pt x="0" y="118960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863990" y="4639637"/>
            <a:ext cx="1070686" cy="1070686"/>
            <a:chOff x="0" y="0"/>
            <a:chExt cx="1427582" cy="142758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27480" cy="1427480"/>
            </a:xfrm>
            <a:custGeom>
              <a:avLst/>
              <a:gdLst/>
              <a:ahLst/>
              <a:cxnLst/>
              <a:rect l="l" t="t" r="r" b="b"/>
              <a:pathLst>
                <a:path w="1427480" h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FACC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54049" y="5490686"/>
            <a:ext cx="617706" cy="617706"/>
            <a:chOff x="0" y="0"/>
            <a:chExt cx="823608" cy="82360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3595" cy="823595"/>
            </a:xfrm>
            <a:custGeom>
              <a:avLst/>
              <a:gdLst/>
              <a:ahLst/>
              <a:cxnLst/>
              <a:rect l="l" t="t" r="r" b="b"/>
              <a:pathLst>
                <a:path w="823595" h="823595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cubicBezTo>
                    <a:pt x="639318" y="0"/>
                    <a:pt x="823595" y="184404"/>
                    <a:pt x="823595" y="411861"/>
                  </a:cubicBezTo>
                  <a:cubicBezTo>
                    <a:pt x="823595" y="639318"/>
                    <a:pt x="639191" y="823595"/>
                    <a:pt x="411861" y="823595"/>
                  </a:cubicBezTo>
                  <a:cubicBezTo>
                    <a:pt x="184531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468406" y="4369641"/>
            <a:ext cx="2173472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Bếp Nhà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72318" y="6703181"/>
            <a:ext cx="3889315" cy="114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Từ nhu cầu nấu ăn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đến một hệ thống số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có cấu trúc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3089338"/>
            <a:ext cx="1040581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Thành viên chỉ sửa/xóa mềm bài của mình. Quản trị viên được ẩn, hiện, xóa mềm và khôi phục công thức.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4013263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Đầu vào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5107938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Tính duy nhất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6571983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 Ảnh tải lên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2546413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Phân quyền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4555488"/>
            <a:ext cx="1021792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Kiểm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tra phía máy chủ; lỗi hiển thị bằng tiếng Việt ngay dưới trường nhập.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5648058"/>
            <a:ext cx="984214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Ema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il, tên danh mục, tên nguyên liệu; một đánh giá/người/món; không tự theo dõi.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7114908"/>
            <a:ext cx="104058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Chỉ JPG/PNG hợp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lệ, từ 1 byte đến 5 MB.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7667358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Bảo toàn dữ liệu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8210283"/>
            <a:ext cx="104058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Xóa mềm giữ dữ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liệu; ẩn bài và trạng thái xóa là hai trạng thái riêng.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  <p:pic>
        <p:nvPicPr>
          <p:cNvPr id="42" name="Audio 41">
            <a:extLst>
              <a:ext uri="{FF2B5EF4-FFF2-40B4-BE49-F238E27FC236}">
                <a16:creationId xmlns:a16="http://schemas.microsoft.com/office/drawing/2014/main" id="{65B5BEC5-FA2A-1E4A-EC92-8DF204C6E4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325"/>
    </mc:Choice>
    <mc:Fallback xmlns="">
      <p:transition spd="slow" advTm="953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5588" y="1824619"/>
            <a:ext cx="15991637" cy="34319"/>
            <a:chOff x="0" y="0"/>
            <a:chExt cx="21322182" cy="457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93686" y="329441"/>
            <a:ext cx="411804" cy="411804"/>
            <a:chOff x="0" y="0"/>
            <a:chExt cx="549072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9021" cy="549021"/>
            </a:xfrm>
            <a:custGeom>
              <a:avLst/>
              <a:gdLst/>
              <a:ahLst/>
              <a:cxnLst/>
              <a:rect l="l" t="t" r="r" b="b"/>
              <a:pathLst>
                <a:path w="549021" h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E5F1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05490" y="754971"/>
            <a:ext cx="247079" cy="247079"/>
            <a:chOff x="0" y="0"/>
            <a:chExt cx="329438" cy="3294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4373773" y="2049437"/>
            <a:ext cx="9489168" cy="7510488"/>
          </a:xfrm>
          <a:custGeom>
            <a:avLst/>
            <a:gdLst/>
            <a:ahLst/>
            <a:cxnLst/>
            <a:rect l="l" t="t" r="r" b="b"/>
            <a:pathLst>
              <a:path w="9489168" h="7510488">
                <a:moveTo>
                  <a:pt x="0" y="0"/>
                </a:moveTo>
                <a:lnTo>
                  <a:pt x="9489168" y="0"/>
                </a:lnTo>
                <a:lnTo>
                  <a:pt x="9489168" y="7510488"/>
                </a:lnTo>
                <a:lnTo>
                  <a:pt x="0" y="7510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044" t="-18507" r="-34931" b="-106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Thiết kế cơ sở dữ liệu: 7 bảng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D374C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pic>
        <p:nvPicPr>
          <p:cNvPr id="16" name="Audio 15">
            <a:extLst>
              <a:ext uri="{FF2B5EF4-FFF2-40B4-BE49-F238E27FC236}">
                <a16:creationId xmlns:a16="http://schemas.microsoft.com/office/drawing/2014/main" id="{81FCC723-74F1-4084-31BC-AECB09D0D7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914"/>
    </mc:Choice>
    <mc:Fallback>
      <p:transition spd="slow" advTm="669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5588" y="1824619"/>
            <a:ext cx="15991637" cy="34319"/>
            <a:chOff x="0" y="0"/>
            <a:chExt cx="21322182" cy="457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93686" y="329441"/>
            <a:ext cx="411804" cy="411804"/>
            <a:chOff x="0" y="0"/>
            <a:chExt cx="549072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9021" cy="549021"/>
            </a:xfrm>
            <a:custGeom>
              <a:avLst/>
              <a:gdLst/>
              <a:ahLst/>
              <a:cxnLst/>
              <a:rect l="l" t="t" r="r" b="b"/>
              <a:pathLst>
                <a:path w="549021" h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E5F1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05490" y="754971"/>
            <a:ext cx="247079" cy="247079"/>
            <a:chOff x="0" y="0"/>
            <a:chExt cx="329438" cy="3294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2949293" y="2127954"/>
            <a:ext cx="12550129" cy="7130346"/>
          </a:xfrm>
          <a:custGeom>
            <a:avLst/>
            <a:gdLst/>
            <a:ahLst/>
            <a:cxnLst/>
            <a:rect l="l" t="t" r="r" b="b"/>
            <a:pathLst>
              <a:path w="12550129" h="7130346">
                <a:moveTo>
                  <a:pt x="0" y="0"/>
                </a:moveTo>
                <a:lnTo>
                  <a:pt x="12550129" y="0"/>
                </a:lnTo>
                <a:lnTo>
                  <a:pt x="12550129" y="7130346"/>
                </a:lnTo>
                <a:lnTo>
                  <a:pt x="0" y="713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Quan hệ dữ liệu và tính nhất quán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D374C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  <p:pic>
        <p:nvPicPr>
          <p:cNvPr id="18" name="Audio 17">
            <a:extLst>
              <a:ext uri="{FF2B5EF4-FFF2-40B4-BE49-F238E27FC236}">
                <a16:creationId xmlns:a16="http://schemas.microsoft.com/office/drawing/2014/main" id="{4A365419-F418-281C-B041-272B198D2B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27"/>
    </mc:Choice>
    <mc:Fallback xmlns="">
      <p:transition spd="slow" advTm="675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Luồng nghiệp vụ tiêu biểu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824619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2500" y="343167"/>
            <a:ext cx="466706" cy="466706"/>
            <a:chOff x="0" y="0"/>
            <a:chExt cx="622275" cy="622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64304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9147" y="892235"/>
            <a:ext cx="205902" cy="205902"/>
            <a:chOff x="0" y="0"/>
            <a:chExt cx="274536" cy="274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74" cy="274574"/>
            </a:xfrm>
            <a:custGeom>
              <a:avLst/>
              <a:gdLst/>
              <a:ahLst/>
              <a:cxnLst/>
              <a:rect l="l" t="t" r="r" b="b"/>
              <a:pathLst>
                <a:path w="274574" h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4427" y="3675670"/>
            <a:ext cx="2882608" cy="3217379"/>
            <a:chOff x="0" y="0"/>
            <a:chExt cx="3843477" cy="428983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43528" cy="4289865"/>
            </a:xfrm>
            <a:custGeom>
              <a:avLst/>
              <a:gdLst/>
              <a:ahLst/>
              <a:cxnLst/>
              <a:rect l="l" t="t" r="r" b="b"/>
              <a:pathLst>
                <a:path w="3843528" h="4289865">
                  <a:moveTo>
                    <a:pt x="0" y="682482"/>
                  </a:moveTo>
                  <a:cubicBezTo>
                    <a:pt x="0" y="305520"/>
                    <a:pt x="286766" y="0"/>
                    <a:pt x="640588" y="0"/>
                  </a:cubicBezTo>
                  <a:lnTo>
                    <a:pt x="3202940" y="0"/>
                  </a:lnTo>
                  <a:cubicBezTo>
                    <a:pt x="3556762" y="0"/>
                    <a:pt x="3843528" y="305520"/>
                    <a:pt x="3843528" y="682482"/>
                  </a:cubicBezTo>
                  <a:lnTo>
                    <a:pt x="3843528" y="3607384"/>
                  </a:lnTo>
                  <a:cubicBezTo>
                    <a:pt x="3843528" y="3984346"/>
                    <a:pt x="3556762" y="4289865"/>
                    <a:pt x="3202940" y="4289865"/>
                  </a:cubicBezTo>
                  <a:lnTo>
                    <a:pt x="640588" y="4289865"/>
                  </a:lnTo>
                  <a:cubicBezTo>
                    <a:pt x="286766" y="4289865"/>
                    <a:pt x="0" y="3984211"/>
                    <a:pt x="0" y="36073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17848" y="3085425"/>
            <a:ext cx="988324" cy="988324"/>
            <a:chOff x="0" y="0"/>
            <a:chExt cx="1317765" cy="13177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17752" cy="1317752"/>
            </a:xfrm>
            <a:custGeom>
              <a:avLst/>
              <a:gdLst/>
              <a:ahLst/>
              <a:cxnLst/>
              <a:rect l="l" t="t" r="r" b="b"/>
              <a:pathLst>
                <a:path w="1317752" h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042405" y="3403375"/>
            <a:ext cx="395995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4872" y="4448910"/>
            <a:ext cx="246172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Nhập dữ liệu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6049" y="5144768"/>
            <a:ext cx="2378840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Tên món, 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danh mục,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nguyên liệu, bước nấu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243564" y="3675670"/>
            <a:ext cx="2882608" cy="3217379"/>
            <a:chOff x="0" y="0"/>
            <a:chExt cx="3843477" cy="428983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43528" cy="4289865"/>
            </a:xfrm>
            <a:custGeom>
              <a:avLst/>
              <a:gdLst/>
              <a:ahLst/>
              <a:cxnLst/>
              <a:rect l="l" t="t" r="r" b="b"/>
              <a:pathLst>
                <a:path w="3843528" h="4289865">
                  <a:moveTo>
                    <a:pt x="0" y="682482"/>
                  </a:moveTo>
                  <a:cubicBezTo>
                    <a:pt x="0" y="305520"/>
                    <a:pt x="286766" y="0"/>
                    <a:pt x="640588" y="0"/>
                  </a:cubicBezTo>
                  <a:lnTo>
                    <a:pt x="3202940" y="0"/>
                  </a:lnTo>
                  <a:cubicBezTo>
                    <a:pt x="3556762" y="0"/>
                    <a:pt x="3843528" y="305520"/>
                    <a:pt x="3843528" y="682482"/>
                  </a:cubicBezTo>
                  <a:lnTo>
                    <a:pt x="3843528" y="3607384"/>
                  </a:lnTo>
                  <a:cubicBezTo>
                    <a:pt x="3843528" y="3984346"/>
                    <a:pt x="3556762" y="4289865"/>
                    <a:pt x="3202940" y="4289865"/>
                  </a:cubicBezTo>
                  <a:lnTo>
                    <a:pt x="640588" y="4289865"/>
                  </a:lnTo>
                  <a:cubicBezTo>
                    <a:pt x="286766" y="4289865"/>
                    <a:pt x="0" y="3984211"/>
                    <a:pt x="0" y="36073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76976" y="3085425"/>
            <a:ext cx="988324" cy="988324"/>
            <a:chOff x="0" y="0"/>
            <a:chExt cx="1317765" cy="13177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17752" cy="1317752"/>
            </a:xfrm>
            <a:custGeom>
              <a:avLst/>
              <a:gdLst/>
              <a:ahLst/>
              <a:cxnLst/>
              <a:rect l="l" t="t" r="r" b="b"/>
              <a:pathLst>
                <a:path w="1317752" h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501533" y="3403375"/>
            <a:ext cx="442067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54000" y="4448910"/>
            <a:ext cx="246172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Kiểm tra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95186" y="5144768"/>
            <a:ext cx="2379374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Ràng buộc 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biểu mẫu,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quyền và tệp ảnh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702701" y="3675670"/>
            <a:ext cx="2882608" cy="3217379"/>
            <a:chOff x="0" y="0"/>
            <a:chExt cx="3843477" cy="428983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43528" cy="4289865"/>
            </a:xfrm>
            <a:custGeom>
              <a:avLst/>
              <a:gdLst/>
              <a:ahLst/>
              <a:cxnLst/>
              <a:rect l="l" t="t" r="r" b="b"/>
              <a:pathLst>
                <a:path w="3843528" h="4289865">
                  <a:moveTo>
                    <a:pt x="0" y="682482"/>
                  </a:moveTo>
                  <a:cubicBezTo>
                    <a:pt x="0" y="305520"/>
                    <a:pt x="286766" y="0"/>
                    <a:pt x="640588" y="0"/>
                  </a:cubicBezTo>
                  <a:lnTo>
                    <a:pt x="3202940" y="0"/>
                  </a:lnTo>
                  <a:cubicBezTo>
                    <a:pt x="3556762" y="0"/>
                    <a:pt x="3843528" y="305520"/>
                    <a:pt x="3843528" y="682482"/>
                  </a:cubicBezTo>
                  <a:lnTo>
                    <a:pt x="3843528" y="3607384"/>
                  </a:lnTo>
                  <a:cubicBezTo>
                    <a:pt x="3843528" y="3984346"/>
                    <a:pt x="3556762" y="4289865"/>
                    <a:pt x="3202940" y="4289865"/>
                  </a:cubicBezTo>
                  <a:lnTo>
                    <a:pt x="640588" y="4289865"/>
                  </a:lnTo>
                  <a:cubicBezTo>
                    <a:pt x="286766" y="4289865"/>
                    <a:pt x="0" y="3984211"/>
                    <a:pt x="0" y="36073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636113" y="3085425"/>
            <a:ext cx="988324" cy="988324"/>
            <a:chOff x="0" y="0"/>
            <a:chExt cx="1317765" cy="131776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17752" cy="1317752"/>
            </a:xfrm>
            <a:custGeom>
              <a:avLst/>
              <a:gdLst/>
              <a:ahLst/>
              <a:cxnLst/>
              <a:rect l="l" t="t" r="r" b="b"/>
              <a:pathLst>
                <a:path w="1317752" h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1D3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960670" y="3403375"/>
            <a:ext cx="411930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13137" y="4448910"/>
            <a:ext cx="246172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Lưu giao dịch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54313" y="5144768"/>
            <a:ext cx="2379374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Công thức 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+ liên kết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nguyên liệu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1161828" y="3675670"/>
            <a:ext cx="2882608" cy="3217379"/>
            <a:chOff x="0" y="0"/>
            <a:chExt cx="3843477" cy="428983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843528" cy="4289865"/>
            </a:xfrm>
            <a:custGeom>
              <a:avLst/>
              <a:gdLst/>
              <a:ahLst/>
              <a:cxnLst/>
              <a:rect l="l" t="t" r="r" b="b"/>
              <a:pathLst>
                <a:path w="3843528" h="4289865">
                  <a:moveTo>
                    <a:pt x="0" y="682482"/>
                  </a:moveTo>
                  <a:cubicBezTo>
                    <a:pt x="0" y="305520"/>
                    <a:pt x="286766" y="0"/>
                    <a:pt x="640588" y="0"/>
                  </a:cubicBezTo>
                  <a:lnTo>
                    <a:pt x="3202940" y="0"/>
                  </a:lnTo>
                  <a:cubicBezTo>
                    <a:pt x="3556762" y="0"/>
                    <a:pt x="3843528" y="305520"/>
                    <a:pt x="3843528" y="682482"/>
                  </a:cubicBezTo>
                  <a:lnTo>
                    <a:pt x="3843528" y="3607384"/>
                  </a:lnTo>
                  <a:cubicBezTo>
                    <a:pt x="3843528" y="3984346"/>
                    <a:pt x="3556762" y="4289865"/>
                    <a:pt x="3202940" y="4289865"/>
                  </a:cubicBezTo>
                  <a:lnTo>
                    <a:pt x="640588" y="4289865"/>
                  </a:lnTo>
                  <a:cubicBezTo>
                    <a:pt x="286766" y="4289865"/>
                    <a:pt x="0" y="3984211"/>
                    <a:pt x="0" y="36073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095250" y="3085425"/>
            <a:ext cx="988324" cy="988324"/>
            <a:chOff x="0" y="0"/>
            <a:chExt cx="1317765" cy="131776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17752" cy="1317752"/>
            </a:xfrm>
            <a:custGeom>
              <a:avLst/>
              <a:gdLst/>
              <a:ahLst/>
              <a:cxnLst/>
              <a:rect l="l" t="t" r="r" b="b"/>
              <a:pathLst>
                <a:path w="1317752" h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5CA67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419807" y="3403375"/>
            <a:ext cx="381793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72274" y="4448910"/>
            <a:ext cx="246172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Công bố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13450" y="5144768"/>
            <a:ext cx="242055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Bài hợp lệ 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hiển thị;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quản trị có thể ẩn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4620965" y="3675670"/>
            <a:ext cx="2882608" cy="3217379"/>
            <a:chOff x="0" y="0"/>
            <a:chExt cx="3843477" cy="428983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843528" cy="4289865"/>
            </a:xfrm>
            <a:custGeom>
              <a:avLst/>
              <a:gdLst/>
              <a:ahLst/>
              <a:cxnLst/>
              <a:rect l="l" t="t" r="r" b="b"/>
              <a:pathLst>
                <a:path w="3843528" h="4289865">
                  <a:moveTo>
                    <a:pt x="0" y="682482"/>
                  </a:moveTo>
                  <a:cubicBezTo>
                    <a:pt x="0" y="305520"/>
                    <a:pt x="286766" y="0"/>
                    <a:pt x="640588" y="0"/>
                  </a:cubicBezTo>
                  <a:lnTo>
                    <a:pt x="3202940" y="0"/>
                  </a:lnTo>
                  <a:cubicBezTo>
                    <a:pt x="3556762" y="0"/>
                    <a:pt x="3843528" y="305520"/>
                    <a:pt x="3843528" y="682482"/>
                  </a:cubicBezTo>
                  <a:lnTo>
                    <a:pt x="3843528" y="3607384"/>
                  </a:lnTo>
                  <a:cubicBezTo>
                    <a:pt x="3843528" y="3984346"/>
                    <a:pt x="3556762" y="4289865"/>
                    <a:pt x="3202940" y="4289865"/>
                  </a:cubicBezTo>
                  <a:lnTo>
                    <a:pt x="640588" y="4289865"/>
                  </a:lnTo>
                  <a:cubicBezTo>
                    <a:pt x="286766" y="4289865"/>
                    <a:pt x="0" y="3984211"/>
                    <a:pt x="0" y="36073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5554387" y="3085425"/>
            <a:ext cx="988324" cy="988324"/>
            <a:chOff x="0" y="0"/>
            <a:chExt cx="1317765" cy="131776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17752" cy="1317752"/>
            </a:xfrm>
            <a:custGeom>
              <a:avLst/>
              <a:gdLst/>
              <a:ahLst/>
              <a:cxnLst/>
              <a:rect l="l" t="t" r="r" b="b"/>
              <a:pathLst>
                <a:path w="1317752" h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FACC5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5878944" y="3403375"/>
            <a:ext cx="366651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831401" y="4448910"/>
            <a:ext cx="246172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Tương tác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872587" y="5144768"/>
            <a:ext cx="2379374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Đánh giá,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 theo dõi,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quản lý nội dung</a:t>
            </a:r>
          </a:p>
        </p:txBody>
      </p:sp>
      <p:sp>
        <p:nvSpPr>
          <p:cNvPr id="46" name="AutoShape 46"/>
          <p:cNvSpPr/>
          <p:nvPr/>
        </p:nvSpPr>
        <p:spPr>
          <a:xfrm>
            <a:off x="3723411" y="5303410"/>
            <a:ext cx="46377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AutoShape 47"/>
          <p:cNvSpPr/>
          <p:nvPr/>
        </p:nvSpPr>
        <p:spPr>
          <a:xfrm>
            <a:off x="7181774" y="5303410"/>
            <a:ext cx="46377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AutoShape 48"/>
          <p:cNvSpPr/>
          <p:nvPr/>
        </p:nvSpPr>
        <p:spPr>
          <a:xfrm>
            <a:off x="10642459" y="5303410"/>
            <a:ext cx="46377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9" name="AutoShape 49"/>
          <p:cNvSpPr/>
          <p:nvPr/>
        </p:nvSpPr>
        <p:spPr>
          <a:xfrm>
            <a:off x="14101586" y="5284360"/>
            <a:ext cx="46377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  <p:pic>
        <p:nvPicPr>
          <p:cNvPr id="198" name="Audio 197">
            <a:extLst>
              <a:ext uri="{FF2B5EF4-FFF2-40B4-BE49-F238E27FC236}">
                <a16:creationId xmlns:a16="http://schemas.microsoft.com/office/drawing/2014/main" id="{C07278D4-0330-5BB7-375C-AD130C7500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875"/>
    </mc:Choice>
    <mc:Fallback>
      <p:transition spd="slow" advTm="708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8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Giao diện trang chủ và khám phá công thức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828848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2500" y="343167"/>
            <a:ext cx="466706" cy="466706"/>
            <a:chOff x="0" y="0"/>
            <a:chExt cx="622275" cy="622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64304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9147" y="892235"/>
            <a:ext cx="205902" cy="205902"/>
            <a:chOff x="0" y="0"/>
            <a:chExt cx="274536" cy="274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74" cy="274574"/>
            </a:xfrm>
            <a:custGeom>
              <a:avLst/>
              <a:gdLst/>
              <a:ahLst/>
              <a:cxnLst/>
              <a:rect l="l" t="t" r="r" b="b"/>
              <a:pathLst>
                <a:path w="274574" h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71308" y="2965849"/>
            <a:ext cx="10029403" cy="5635271"/>
          </a:xfrm>
          <a:custGeom>
            <a:avLst/>
            <a:gdLst/>
            <a:ahLst/>
            <a:cxnLst/>
            <a:rect l="l" t="t" r="r" b="b"/>
            <a:pathLst>
              <a:path w="10029403" h="5635271">
                <a:moveTo>
                  <a:pt x="0" y="0"/>
                </a:moveTo>
                <a:lnTo>
                  <a:pt x="10029403" y="0"/>
                </a:lnTo>
                <a:lnTo>
                  <a:pt x="10029403" y="5635271"/>
                </a:lnTo>
                <a:lnTo>
                  <a:pt x="0" y="5635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08094" y="5793010"/>
            <a:ext cx="16966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95188" y="3897535"/>
            <a:ext cx="5146005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Nơi người dùng khám phá và tìm kiếm công thức nấu ăn.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95188" y="5002435"/>
            <a:ext cx="5164112" cy="266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0154" lvl="1" indent="-270077" algn="just">
              <a:lnSpc>
                <a:spcPts val="3002"/>
              </a:lnSpc>
              <a:buFont typeface="Arial"/>
              <a:buChar char="•"/>
            </a:pPr>
            <a:r>
              <a:rPr lang="en-US" sz="2501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Tìm kiếm công thức theo tên món ăn.</a:t>
            </a:r>
          </a:p>
          <a:p>
            <a:pPr marL="540154" lvl="1" indent="-270077" algn="just">
              <a:lnSpc>
                <a:spcPts val="3002"/>
              </a:lnSpc>
              <a:buFont typeface="Arial"/>
              <a:buChar char="•"/>
            </a:pPr>
            <a:r>
              <a:rPr lang="en-US" sz="2501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Khám phá các công thức được hiển thị trên website.</a:t>
            </a:r>
          </a:p>
          <a:p>
            <a:pPr marL="540154" lvl="1" indent="-270077" algn="just">
              <a:lnSpc>
                <a:spcPts val="3002"/>
              </a:lnSpc>
              <a:buFont typeface="Arial"/>
              <a:buChar char="•"/>
            </a:pPr>
            <a:r>
              <a:rPr lang="en-US" sz="2501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Truy cập nhanh vào nội dung món ăn quan tâm.</a:t>
            </a:r>
          </a:p>
          <a:p>
            <a:pPr algn="just">
              <a:lnSpc>
                <a:spcPts val="3002"/>
              </a:lnSpc>
            </a:pPr>
            <a:endParaRPr lang="en-US" sz="2501">
              <a:solidFill>
                <a:srgbClr val="1D374C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18" name="Audio 17">
            <a:extLst>
              <a:ext uri="{FF2B5EF4-FFF2-40B4-BE49-F238E27FC236}">
                <a16:creationId xmlns:a16="http://schemas.microsoft.com/office/drawing/2014/main" id="{55E96D09-EAB1-A9CE-F12D-59A52F3268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761"/>
    </mc:Choice>
    <mc:Fallback>
      <p:transition spd="slow" advTm="297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Giao diện chi tiết công thức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824619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2500" y="343167"/>
            <a:ext cx="466706" cy="466706"/>
            <a:chOff x="0" y="0"/>
            <a:chExt cx="622275" cy="622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64304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9147" y="892235"/>
            <a:ext cx="205902" cy="205902"/>
            <a:chOff x="0" y="0"/>
            <a:chExt cx="274536" cy="274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74" cy="274574"/>
            </a:xfrm>
            <a:custGeom>
              <a:avLst/>
              <a:gdLst/>
              <a:ahLst/>
              <a:cxnLst/>
              <a:rect l="l" t="t" r="r" b="b"/>
              <a:pathLst>
                <a:path w="274574" h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111409"/>
            <a:ext cx="10706100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Cung </a:t>
            </a:r>
            <a:r>
              <a:rPr lang="en-US" sz="3000" b="1" dirty="0" err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cấp</a:t>
            </a:r>
            <a:r>
              <a:rPr lang="en-US" sz="3000" b="1" dirty="0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thông</a:t>
            </a:r>
            <a:r>
              <a:rPr lang="en-US" sz="3000" b="1" dirty="0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 tin </a:t>
            </a:r>
            <a:r>
              <a:rPr lang="en-US" sz="3000" b="1" dirty="0" err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cần</a:t>
            </a:r>
            <a:r>
              <a:rPr lang="en-US" sz="3000" b="1" dirty="0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th</a:t>
            </a:r>
            <a:r>
              <a:rPr lang="en-US" sz="3000" b="1" u="none" strike="noStrike" dirty="0" err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iết</a:t>
            </a:r>
            <a:r>
              <a:rPr lang="en-US" sz="3000" b="1" u="none" strike="noStrike" dirty="0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u="none" strike="noStrike" dirty="0" err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để</a:t>
            </a:r>
            <a:r>
              <a:rPr lang="en-US" sz="3000" b="1" u="none" strike="noStrike" dirty="0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u="none" strike="noStrike" dirty="0" err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người</a:t>
            </a:r>
            <a:r>
              <a:rPr lang="en-US" sz="3000" b="1" u="none" strike="noStrike" dirty="0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u="none" strike="noStrike" dirty="0" err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dùng</a:t>
            </a:r>
            <a:r>
              <a:rPr lang="en-US" sz="3000" b="1" u="none" strike="noStrike" dirty="0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u="none" strike="noStrike" dirty="0" err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thực</a:t>
            </a:r>
            <a:r>
              <a:rPr lang="en-US" sz="3000" b="1" u="none" strike="noStrike" dirty="0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u="none" strike="noStrike" dirty="0" err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hiện</a:t>
            </a:r>
            <a:r>
              <a:rPr lang="en-US" sz="3000" b="1" u="none" strike="noStrike" dirty="0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u="none" strike="noStrike" dirty="0" err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món</a:t>
            </a:r>
            <a:r>
              <a:rPr lang="en-US" sz="3000" b="1" u="none" strike="noStrike" dirty="0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u="none" strike="noStrike" dirty="0" err="1">
                <a:solidFill>
                  <a:srgbClr val="2A9D8F"/>
                </a:solidFill>
                <a:latin typeface="Aptos Bold"/>
                <a:ea typeface="Aptos Bold"/>
                <a:cs typeface="Aptos Bold"/>
                <a:sym typeface="Aptos Bold"/>
              </a:rPr>
              <a:t>ăn</a:t>
            </a:r>
            <a:endParaRPr lang="en-US" sz="3000" b="1" u="none" strike="noStrike" dirty="0">
              <a:solidFill>
                <a:srgbClr val="2A9D8F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7663859"/>
            <a:ext cx="16459143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0154" lvl="1" indent="-270077" algn="just">
              <a:lnSpc>
                <a:spcPts val="3002"/>
              </a:lnSpc>
              <a:buFont typeface="Arial"/>
              <a:buChar char="•"/>
            </a:pPr>
            <a:r>
              <a:rPr lang="en-US" sz="2501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Thông tin món ăn: hiển thị nội dung và thông tin chi tiết của công thức.</a:t>
            </a:r>
          </a:p>
          <a:p>
            <a:pPr marL="540154" lvl="1" indent="-270077" algn="just">
              <a:lnSpc>
                <a:spcPts val="3002"/>
              </a:lnSpc>
              <a:buFont typeface="Arial"/>
              <a:buChar char="•"/>
            </a:pPr>
            <a:r>
              <a:rPr lang="en-US" sz="2501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Nguyên liệu và cách chế biến: trình bày các nguyên liệu và hướng dẫn thực hiện theo từng bước.</a:t>
            </a:r>
          </a:p>
          <a:p>
            <a:pPr marL="540154" lvl="1" indent="-270077" algn="just">
              <a:lnSpc>
                <a:spcPts val="3002"/>
              </a:lnSpc>
              <a:buFont typeface="Arial"/>
              <a:buChar char="•"/>
            </a:pPr>
            <a:r>
              <a:rPr lang="en-US" sz="2501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Thành viên đánh giá từ 1–5 sao và gửi nhận xét cho công thức của người khác.</a:t>
            </a:r>
          </a:p>
        </p:txBody>
      </p:sp>
      <p:sp>
        <p:nvSpPr>
          <p:cNvPr id="14" name="Freeform 14"/>
          <p:cNvSpPr/>
          <p:nvPr/>
        </p:nvSpPr>
        <p:spPr>
          <a:xfrm>
            <a:off x="9309202" y="2251929"/>
            <a:ext cx="7950098" cy="4466487"/>
          </a:xfrm>
          <a:custGeom>
            <a:avLst/>
            <a:gdLst/>
            <a:ahLst/>
            <a:cxnLst/>
            <a:rect l="l" t="t" r="r" b="b"/>
            <a:pathLst>
              <a:path w="7950098" h="4466487">
                <a:moveTo>
                  <a:pt x="0" y="0"/>
                </a:moveTo>
                <a:lnTo>
                  <a:pt x="7950098" y="0"/>
                </a:lnTo>
                <a:lnTo>
                  <a:pt x="7950098" y="4466488"/>
                </a:lnTo>
                <a:lnTo>
                  <a:pt x="0" y="4466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028700" y="2251929"/>
            <a:ext cx="7950098" cy="4466487"/>
          </a:xfrm>
          <a:custGeom>
            <a:avLst/>
            <a:gdLst/>
            <a:ahLst/>
            <a:cxnLst/>
            <a:rect l="l" t="t" r="r" b="b"/>
            <a:pathLst>
              <a:path w="7950098" h="4466487">
                <a:moveTo>
                  <a:pt x="0" y="0"/>
                </a:moveTo>
                <a:lnTo>
                  <a:pt x="7950098" y="0"/>
                </a:lnTo>
                <a:lnTo>
                  <a:pt x="7950098" y="4466488"/>
                </a:lnTo>
                <a:lnTo>
                  <a:pt x="0" y="44664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1" name="Audio 20">
            <a:extLst>
              <a:ext uri="{FF2B5EF4-FFF2-40B4-BE49-F238E27FC236}">
                <a16:creationId xmlns:a16="http://schemas.microsoft.com/office/drawing/2014/main" id="{88FB77ED-401B-F8BB-EE52-A8302F8C4A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745"/>
    </mc:Choice>
    <mc:Fallback>
      <p:transition spd="slow" advTm="397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Giao diện đăng và chỉnh sửa công thức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824619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2500" y="343167"/>
            <a:ext cx="466706" cy="466706"/>
            <a:chOff x="0" y="0"/>
            <a:chExt cx="622275" cy="622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64304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9147" y="892235"/>
            <a:ext cx="205902" cy="205902"/>
            <a:chOff x="0" y="0"/>
            <a:chExt cx="274536" cy="274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74" cy="274574"/>
            </a:xfrm>
            <a:custGeom>
              <a:avLst/>
              <a:gdLst/>
              <a:ahLst/>
              <a:cxnLst/>
              <a:rect l="l" t="t" r="r" b="b"/>
              <a:pathLst>
                <a:path w="274574" h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9587704" y="2203831"/>
            <a:ext cx="7671596" cy="4310478"/>
          </a:xfrm>
          <a:custGeom>
            <a:avLst/>
            <a:gdLst/>
            <a:ahLst/>
            <a:cxnLst/>
            <a:rect l="l" t="t" r="r" b="b"/>
            <a:pathLst>
              <a:path w="7671596" h="4310478">
                <a:moveTo>
                  <a:pt x="0" y="0"/>
                </a:moveTo>
                <a:lnTo>
                  <a:pt x="7671596" y="0"/>
                </a:lnTo>
                <a:lnTo>
                  <a:pt x="7671596" y="4310478"/>
                </a:lnTo>
                <a:lnTo>
                  <a:pt x="0" y="4310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171308" y="2203831"/>
            <a:ext cx="7671596" cy="4310478"/>
          </a:xfrm>
          <a:custGeom>
            <a:avLst/>
            <a:gdLst/>
            <a:ahLst/>
            <a:cxnLst/>
            <a:rect l="l" t="t" r="r" b="b"/>
            <a:pathLst>
              <a:path w="7671596" h="4310478">
                <a:moveTo>
                  <a:pt x="0" y="0"/>
                </a:moveTo>
                <a:lnTo>
                  <a:pt x="7671596" y="0"/>
                </a:lnTo>
                <a:lnTo>
                  <a:pt x="7671596" y="4310478"/>
                </a:lnTo>
                <a:lnTo>
                  <a:pt x="0" y="43104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085809"/>
            <a:ext cx="16459143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Cho phép thành viên nhập thông tin công thức.</a:t>
            </a:r>
          </a:p>
          <a:p>
            <a:pPr marL="647700" lvl="1" indent="-323850" algn="just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Cung cấp khu vực nhập nguyên liệu và các bước chế biến.</a:t>
            </a:r>
          </a:p>
          <a:p>
            <a:pPr marL="647700" lvl="1" indent="-323850" algn="just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Hỗ trợ chỉnh sửa nội dung công thức đã đăng.</a:t>
            </a:r>
          </a:p>
        </p:txBody>
      </p:sp>
      <p:pic>
        <p:nvPicPr>
          <p:cNvPr id="20" name="Audio 19">
            <a:extLst>
              <a:ext uri="{FF2B5EF4-FFF2-40B4-BE49-F238E27FC236}">
                <a16:creationId xmlns:a16="http://schemas.microsoft.com/office/drawing/2014/main" id="{7EC0FF66-BA57-E481-0E12-6C0DD8C404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956"/>
    </mc:Choice>
    <mc:Fallback>
      <p:transition spd="slow" advTm="449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5588" y="1824619"/>
            <a:ext cx="15991637" cy="34319"/>
            <a:chOff x="0" y="0"/>
            <a:chExt cx="21322182" cy="457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93686" y="329441"/>
            <a:ext cx="411804" cy="411804"/>
            <a:chOff x="0" y="0"/>
            <a:chExt cx="549072" cy="549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9021" cy="549021"/>
            </a:xfrm>
            <a:custGeom>
              <a:avLst/>
              <a:gdLst/>
              <a:ahLst/>
              <a:cxnLst/>
              <a:rect l="l" t="t" r="r" b="b"/>
              <a:pathLst>
                <a:path w="549021" h="549021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cubicBezTo>
                    <a:pt x="426212" y="0"/>
                    <a:pt x="549021" y="122936"/>
                    <a:pt x="549021" y="274574"/>
                  </a:cubicBezTo>
                  <a:cubicBezTo>
                    <a:pt x="549021" y="426212"/>
                    <a:pt x="426212" y="549021"/>
                    <a:pt x="274574" y="549021"/>
                  </a:cubicBezTo>
                  <a:cubicBezTo>
                    <a:pt x="122936" y="549021"/>
                    <a:pt x="0" y="426212"/>
                    <a:pt x="0" y="274574"/>
                  </a:cubicBezTo>
                  <a:close/>
                </a:path>
              </a:pathLst>
            </a:custGeom>
            <a:solidFill>
              <a:srgbClr val="E5F1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05490" y="754971"/>
            <a:ext cx="247079" cy="247079"/>
            <a:chOff x="0" y="0"/>
            <a:chExt cx="329438" cy="3294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4465753" y="2028323"/>
            <a:ext cx="9311308" cy="5231791"/>
          </a:xfrm>
          <a:custGeom>
            <a:avLst/>
            <a:gdLst/>
            <a:ahLst/>
            <a:cxnLst/>
            <a:rect l="l" t="t" r="r" b="b"/>
            <a:pathLst>
              <a:path w="9311308" h="5231791">
                <a:moveTo>
                  <a:pt x="0" y="0"/>
                </a:moveTo>
                <a:lnTo>
                  <a:pt x="9311308" y="0"/>
                </a:lnTo>
                <a:lnTo>
                  <a:pt x="9311308" y="5231791"/>
                </a:lnTo>
                <a:lnTo>
                  <a:pt x="0" y="5231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Giao diện quản trị hệ thống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D374C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429500"/>
            <a:ext cx="13175629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Quản lý công thức: Theo dõi và xử lý nội dung công thức.</a:t>
            </a:r>
          </a:p>
          <a:p>
            <a:pPr marL="647700" lvl="1" indent="-323850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Quản lý đánh giá: Kiểm soát nội dung nhận xét của người dùng.</a:t>
            </a:r>
          </a:p>
          <a:p>
            <a:pPr marL="647700" lvl="1" indent="-323850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Quản lý danh mục: Quản lý các nhóm công thức.</a:t>
            </a:r>
          </a:p>
          <a:p>
            <a:pPr marL="647700" lvl="1" indent="-323850" algn="just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1D374C"/>
                </a:solidFill>
                <a:latin typeface="Aptos"/>
                <a:ea typeface="Aptos"/>
                <a:cs typeface="Aptos"/>
                <a:sym typeface="Aptos"/>
              </a:rPr>
              <a:t>Quản lý tài khoản: Theo dõi và quản lý tài khoản người dùng.</a:t>
            </a:r>
          </a:p>
        </p:txBody>
      </p:sp>
      <p:pic>
        <p:nvPicPr>
          <p:cNvPr id="17" name="Audio 16">
            <a:extLst>
              <a:ext uri="{FF2B5EF4-FFF2-40B4-BE49-F238E27FC236}">
                <a16:creationId xmlns:a16="http://schemas.microsoft.com/office/drawing/2014/main" id="{6434475C-A65E-A6F4-DBD1-42DE3E2561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907"/>
    </mc:Choice>
    <mc:Fallback>
      <p:transition spd="slow" advTm="689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1034044"/>
            <a:ext cx="16106099" cy="759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Giới hạn của phiên bản hiện tại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962922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2500" y="343167"/>
            <a:ext cx="466706" cy="466706"/>
            <a:chOff x="0" y="0"/>
            <a:chExt cx="622275" cy="622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64304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9147" y="892235"/>
            <a:ext cx="205902" cy="205902"/>
            <a:chOff x="0" y="0"/>
            <a:chExt cx="274536" cy="274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74" cy="274574"/>
            </a:xfrm>
            <a:custGeom>
              <a:avLst/>
              <a:gdLst/>
              <a:ahLst/>
              <a:cxnLst/>
              <a:rect l="l" t="t" r="r" b="b"/>
              <a:pathLst>
                <a:path w="274574" h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73617" y="2608078"/>
            <a:ext cx="4872990" cy="6245657"/>
            <a:chOff x="0" y="0"/>
            <a:chExt cx="6497320" cy="83275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97320" cy="8327517"/>
            </a:xfrm>
            <a:custGeom>
              <a:avLst/>
              <a:gdLst/>
              <a:ahLst/>
              <a:cxnLst/>
              <a:rect l="l" t="t" r="r" b="b"/>
              <a:pathLst>
                <a:path w="6497320" h="8327517">
                  <a:moveTo>
                    <a:pt x="0" y="1082929"/>
                  </a:moveTo>
                  <a:cubicBezTo>
                    <a:pt x="0" y="484886"/>
                    <a:pt x="484886" y="0"/>
                    <a:pt x="1082929" y="0"/>
                  </a:cubicBezTo>
                  <a:lnTo>
                    <a:pt x="5414391" y="0"/>
                  </a:lnTo>
                  <a:cubicBezTo>
                    <a:pt x="6012434" y="0"/>
                    <a:pt x="6497320" y="484886"/>
                    <a:pt x="6497320" y="1082929"/>
                  </a:cubicBezTo>
                  <a:lnTo>
                    <a:pt x="6497320" y="7244588"/>
                  </a:lnTo>
                  <a:cubicBezTo>
                    <a:pt x="6497320" y="7842631"/>
                    <a:pt x="6012434" y="8327517"/>
                    <a:pt x="5414391" y="8327517"/>
                  </a:cubicBezTo>
                  <a:lnTo>
                    <a:pt x="1082929" y="8327517"/>
                  </a:lnTo>
                  <a:cubicBezTo>
                    <a:pt x="484886" y="8327517"/>
                    <a:pt x="0" y="7842758"/>
                    <a:pt x="0" y="7244588"/>
                  </a:cubicBezTo>
                  <a:close/>
                </a:path>
              </a:pathLst>
            </a:custGeom>
            <a:solidFill>
              <a:srgbClr val="FFE9E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697216" y="3774853"/>
            <a:ext cx="1784471" cy="1784471"/>
            <a:chOff x="0" y="0"/>
            <a:chExt cx="2379294" cy="23792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79218" cy="2379218"/>
            </a:xfrm>
            <a:custGeom>
              <a:avLst/>
              <a:gdLst/>
              <a:ahLst/>
              <a:cxnLst/>
              <a:rect l="l" t="t" r="r" b="b"/>
              <a:pathLst>
                <a:path w="2379218" h="2379218">
                  <a:moveTo>
                    <a:pt x="0" y="1189609"/>
                  </a:moveTo>
                  <a:cubicBezTo>
                    <a:pt x="0" y="532638"/>
                    <a:pt x="532638" y="0"/>
                    <a:pt x="1189609" y="0"/>
                  </a:cubicBezTo>
                  <a:cubicBezTo>
                    <a:pt x="1846580" y="0"/>
                    <a:pt x="2379218" y="532638"/>
                    <a:pt x="2379218" y="1189609"/>
                  </a:cubicBezTo>
                  <a:cubicBezTo>
                    <a:pt x="2379218" y="1846580"/>
                    <a:pt x="1846580" y="2379218"/>
                    <a:pt x="1189609" y="2379218"/>
                  </a:cubicBezTo>
                  <a:cubicBezTo>
                    <a:pt x="532638" y="2379218"/>
                    <a:pt x="0" y="1846707"/>
                    <a:pt x="0" y="118960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863990" y="4639637"/>
            <a:ext cx="1070686" cy="1070686"/>
            <a:chOff x="0" y="0"/>
            <a:chExt cx="1427582" cy="14275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27480" cy="1427480"/>
            </a:xfrm>
            <a:custGeom>
              <a:avLst/>
              <a:gdLst/>
              <a:ahLst/>
              <a:cxnLst/>
              <a:rect l="l" t="t" r="r" b="b"/>
              <a:pathLst>
                <a:path w="1427480" h="1427480">
                  <a:moveTo>
                    <a:pt x="0" y="713740"/>
                  </a:moveTo>
                  <a:cubicBezTo>
                    <a:pt x="0" y="319532"/>
                    <a:pt x="319532" y="0"/>
                    <a:pt x="713740" y="0"/>
                  </a:cubicBezTo>
                  <a:cubicBezTo>
                    <a:pt x="1107948" y="0"/>
                    <a:pt x="1427480" y="319532"/>
                    <a:pt x="1427480" y="713740"/>
                  </a:cubicBezTo>
                  <a:cubicBezTo>
                    <a:pt x="1427480" y="1107948"/>
                    <a:pt x="1107948" y="1427480"/>
                    <a:pt x="713740" y="1427480"/>
                  </a:cubicBezTo>
                  <a:cubicBezTo>
                    <a:pt x="319532" y="1427480"/>
                    <a:pt x="0" y="1107948"/>
                    <a:pt x="0" y="713740"/>
                  </a:cubicBezTo>
                  <a:close/>
                </a:path>
              </a:pathLst>
            </a:custGeom>
            <a:solidFill>
              <a:srgbClr val="FACC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54049" y="5490686"/>
            <a:ext cx="617706" cy="617706"/>
            <a:chOff x="0" y="0"/>
            <a:chExt cx="823608" cy="8236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3595" cy="823595"/>
            </a:xfrm>
            <a:custGeom>
              <a:avLst/>
              <a:gdLst/>
              <a:ahLst/>
              <a:cxnLst/>
              <a:rect l="l" t="t" r="r" b="b"/>
              <a:pathLst>
                <a:path w="823595" h="823595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cubicBezTo>
                    <a:pt x="639318" y="0"/>
                    <a:pt x="823595" y="184404"/>
                    <a:pt x="823595" y="411861"/>
                  </a:cubicBezTo>
                  <a:cubicBezTo>
                    <a:pt x="823595" y="639318"/>
                    <a:pt x="639191" y="823595"/>
                    <a:pt x="411861" y="823595"/>
                  </a:cubicBezTo>
                  <a:cubicBezTo>
                    <a:pt x="184531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468406" y="4369641"/>
            <a:ext cx="2173472" cy="38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Bếp Nhà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72318" y="6703181"/>
            <a:ext cx="3889315" cy="114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Từ nhu cầu nấu ăn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đến một hệ thống số</a:t>
            </a:r>
          </a:p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có cấu trúc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3379428"/>
            <a:ext cx="1024141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Nghiệm thu trên Windows với SQL Server LocalDB; ảnh lưu trên máy chủ ứng dụng.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4306994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Quên mật khẩu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5773144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Tính năng chưa có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2836503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Môi trường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4849219"/>
            <a:ext cx="984214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Liên kết hiển thị trên trang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yêu cầu, chưa gửi thư hoặc xác minh quyền sở hữu email.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6316069"/>
            <a:ext cx="104058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Video từng bước, nhắn tin trực tiếp, thanh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toán và ứng dụng di động độc lập.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6868519"/>
            <a:ext cx="98421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F4826C"/>
                </a:solidFill>
                <a:latin typeface="Aptos Bold"/>
                <a:ea typeface="Aptos Bold"/>
                <a:cs typeface="Aptos Bold"/>
                <a:sym typeface="Aptos Bold"/>
              </a:rPr>
              <a:t>Kiểm thử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7411444"/>
            <a:ext cx="1040581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Chưa thực hiện</a:t>
            </a:r>
            <a:r>
              <a:rPr lang="en-US" sz="2499" u="none" strike="noStrike">
                <a:solidFill>
                  <a:srgbClr val="2D3943"/>
                </a:solidFill>
                <a:latin typeface="Aptos"/>
                <a:ea typeface="Aptos"/>
                <a:cs typeface="Aptos"/>
                <a:sym typeface="Aptos"/>
              </a:rPr>
              <a:t> đo tải lớn, kiểm thử đa thiết bị hoặc đánh giá bảo mật độc lập.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</a:p>
        </p:txBody>
      </p:sp>
      <p:pic>
        <p:nvPicPr>
          <p:cNvPr id="35" name="Audio 34">
            <a:extLst>
              <a:ext uri="{FF2B5EF4-FFF2-40B4-BE49-F238E27FC236}">
                <a16:creationId xmlns:a16="http://schemas.microsoft.com/office/drawing/2014/main" id="{8311DC87-FFF0-9E09-A46C-494497E0D4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487"/>
    </mc:Choice>
    <mc:Fallback>
      <p:transition spd="slow" advTm="574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1308" y="1043569"/>
            <a:ext cx="1610609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Định hướng phát triển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25588" y="1824619"/>
            <a:ext cx="15991637" cy="34319"/>
            <a:chOff x="0" y="0"/>
            <a:chExt cx="21322182" cy="45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22157" cy="45720"/>
            </a:xfrm>
            <a:custGeom>
              <a:avLst/>
              <a:gdLst/>
              <a:ahLst/>
              <a:cxnLst/>
              <a:rect l="l" t="t" r="r" b="b"/>
              <a:pathLst>
                <a:path w="21322157" h="45720">
                  <a:moveTo>
                    <a:pt x="0" y="0"/>
                  </a:moveTo>
                  <a:lnTo>
                    <a:pt x="21322157" y="0"/>
                  </a:lnTo>
                  <a:lnTo>
                    <a:pt x="21322157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DAF2E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2500" y="343167"/>
            <a:ext cx="466706" cy="466706"/>
            <a:chOff x="0" y="0"/>
            <a:chExt cx="622275" cy="6222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FFF6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64304" y="754971"/>
            <a:ext cx="247079" cy="247079"/>
            <a:chOff x="0" y="0"/>
            <a:chExt cx="329438" cy="3294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9438" cy="329438"/>
            </a:xfrm>
            <a:custGeom>
              <a:avLst/>
              <a:gdLst/>
              <a:ahLst/>
              <a:cxnLst/>
              <a:rect l="l" t="t" r="r" b="b"/>
              <a:pathLst>
                <a:path w="329438" h="329438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cubicBezTo>
                    <a:pt x="255651" y="0"/>
                    <a:pt x="329438" y="73787"/>
                    <a:pt x="329438" y="164719"/>
                  </a:cubicBezTo>
                  <a:cubicBezTo>
                    <a:pt x="329438" y="255651"/>
                    <a:pt x="255651" y="329438"/>
                    <a:pt x="164719" y="329438"/>
                  </a:cubicBezTo>
                  <a:cubicBezTo>
                    <a:pt x="73787" y="329438"/>
                    <a:pt x="0" y="255651"/>
                    <a:pt x="0" y="16471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9147" y="892235"/>
            <a:ext cx="205902" cy="205902"/>
            <a:chOff x="0" y="0"/>
            <a:chExt cx="274536" cy="274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574" cy="274574"/>
            </a:xfrm>
            <a:custGeom>
              <a:avLst/>
              <a:gdLst/>
              <a:ahLst/>
              <a:cxnLst/>
              <a:rect l="l" t="t" r="r" b="b"/>
              <a:pathLst>
                <a:path w="274574" h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2223" y="2562928"/>
            <a:ext cx="851059" cy="851059"/>
            <a:chOff x="0" y="0"/>
            <a:chExt cx="1134745" cy="11347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838147" y="2812245"/>
            <a:ext cx="371653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63354" y="2562928"/>
            <a:ext cx="357116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Hoàn thiện tài khoản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63354" y="3078945"/>
            <a:ext cx="938000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Gửi email đặt lại mật khẩu và bổ sung xác minh hộp thư.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82223" y="4100320"/>
            <a:ext cx="851059" cy="851059"/>
            <a:chOff x="0" y="0"/>
            <a:chExt cx="1134745" cy="113474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61947" y="4347436"/>
            <a:ext cx="447853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63354" y="4100320"/>
            <a:ext cx="487144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Nâng chất lượng trải nghiệm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63354" y="4610307"/>
            <a:ext cx="938000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Tối ưu giao diện trên nhiều kích thước màn hình.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582223" y="5637712"/>
            <a:ext cx="851059" cy="851059"/>
            <a:chOff x="0" y="0"/>
            <a:chExt cx="1134745" cy="113474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1D374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828800" y="5887029"/>
            <a:ext cx="371653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63354" y="5637712"/>
            <a:ext cx="3308846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Mở</a:t>
            </a:r>
            <a:r>
              <a:rPr lang="en-US" sz="3000" b="1" dirty="0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rộng</a:t>
            </a:r>
            <a:r>
              <a:rPr lang="en-US" sz="3000" b="1" dirty="0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cộng</a:t>
            </a:r>
            <a:r>
              <a:rPr lang="en-US" sz="3000" b="1" dirty="0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đồng</a:t>
            </a:r>
            <a:endParaRPr lang="en-US" sz="3000" b="1" dirty="0">
              <a:solidFill>
                <a:srgbClr val="1D374C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863354" y="6152062"/>
            <a:ext cx="938000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Cân nhắc video hướng dẫn và trao đổi trực tiếp.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63354" y="7689464"/>
            <a:ext cx="980275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57580"/>
                </a:solidFill>
                <a:latin typeface="Aptos"/>
                <a:ea typeface="Aptos"/>
                <a:cs typeface="Aptos"/>
                <a:sym typeface="Aptos"/>
              </a:rPr>
              <a:t>Đo tải, kiểm tra bảo mật và triển khai trên môi trường máy chủ phù hợp.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63354" y="7175114"/>
            <a:ext cx="361842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D374C"/>
                </a:solidFill>
                <a:latin typeface="Aptos Bold"/>
                <a:ea typeface="Aptos Bold"/>
                <a:cs typeface="Aptos Bold"/>
                <a:sym typeface="Aptos Bold"/>
              </a:rPr>
              <a:t>Tăng cường kiểm thử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82223" y="7175114"/>
            <a:ext cx="851059" cy="851059"/>
            <a:chOff x="0" y="0"/>
            <a:chExt cx="1134745" cy="113474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34745" cy="1134618"/>
            </a:xfrm>
            <a:custGeom>
              <a:avLst/>
              <a:gdLst/>
              <a:ahLst/>
              <a:cxnLst/>
              <a:rect l="l" t="t" r="r" b="b"/>
              <a:pathLst>
                <a:path w="1134745" h="1134618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5CA67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838147" y="7424430"/>
            <a:ext cx="371653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</a:p>
        </p:txBody>
      </p:sp>
      <p:pic>
        <p:nvPicPr>
          <p:cNvPr id="37" name="Audio 36">
            <a:extLst>
              <a:ext uri="{FF2B5EF4-FFF2-40B4-BE49-F238E27FC236}">
                <a16:creationId xmlns:a16="http://schemas.microsoft.com/office/drawing/2014/main" id="{21A4433C-3F41-B232-BFF5-AB2B7B6A91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462"/>
    </mc:Choice>
    <mc:Fallback>
      <p:transition spd="slow" advTm="364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7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59951" y="823608"/>
            <a:ext cx="4667088" cy="4667088"/>
            <a:chOff x="0" y="0"/>
            <a:chExt cx="6222784" cy="62227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22746" cy="6222746"/>
            </a:xfrm>
            <a:custGeom>
              <a:avLst/>
              <a:gdLst/>
              <a:ahLst/>
              <a:cxnLst/>
              <a:rect l="l" t="t" r="r" b="b"/>
              <a:pathLst>
                <a:path w="6222746" h="6222746">
                  <a:moveTo>
                    <a:pt x="0" y="3111373"/>
                  </a:moveTo>
                  <a:cubicBezTo>
                    <a:pt x="0" y="1393063"/>
                    <a:pt x="1393063" y="0"/>
                    <a:pt x="3111373" y="0"/>
                  </a:cubicBezTo>
                  <a:cubicBezTo>
                    <a:pt x="4829683" y="0"/>
                    <a:pt x="6222746" y="1393063"/>
                    <a:pt x="6222746" y="3111373"/>
                  </a:cubicBezTo>
                  <a:cubicBezTo>
                    <a:pt x="6222746" y="4829683"/>
                    <a:pt x="4829810" y="6222746"/>
                    <a:pt x="3111373" y="6222746"/>
                  </a:cubicBezTo>
                  <a:cubicBezTo>
                    <a:pt x="1392936" y="6222746"/>
                    <a:pt x="0" y="4829810"/>
                    <a:pt x="0" y="3111373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452186" y="1715843"/>
            <a:ext cx="2882608" cy="2882608"/>
            <a:chOff x="0" y="0"/>
            <a:chExt cx="3843477" cy="38434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528" cy="3843528"/>
            </a:xfrm>
            <a:custGeom>
              <a:avLst/>
              <a:gdLst/>
              <a:ahLst/>
              <a:cxnLst/>
              <a:rect l="l" t="t" r="r" b="b"/>
              <a:pathLst>
                <a:path w="3843528" h="3843528">
                  <a:moveTo>
                    <a:pt x="0" y="1921764"/>
                  </a:moveTo>
                  <a:cubicBezTo>
                    <a:pt x="0" y="860425"/>
                    <a:pt x="860425" y="0"/>
                    <a:pt x="1921764" y="0"/>
                  </a:cubicBezTo>
                  <a:cubicBezTo>
                    <a:pt x="2983103" y="0"/>
                    <a:pt x="3843528" y="860425"/>
                    <a:pt x="3843528" y="1921764"/>
                  </a:cubicBezTo>
                  <a:cubicBezTo>
                    <a:pt x="3843528" y="2983103"/>
                    <a:pt x="2983103" y="3843528"/>
                    <a:pt x="1921764" y="3843528"/>
                  </a:cubicBezTo>
                  <a:cubicBezTo>
                    <a:pt x="860425" y="3843528"/>
                    <a:pt x="0" y="2983103"/>
                    <a:pt x="0" y="1921764"/>
                  </a:cubicBezTo>
                  <a:close/>
                </a:path>
              </a:pathLst>
            </a:custGeom>
            <a:solidFill>
              <a:srgbClr val="FAF8F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001255" y="2127647"/>
            <a:ext cx="384353" cy="384353"/>
            <a:chOff x="0" y="0"/>
            <a:chExt cx="512470" cy="5124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824862" y="2264912"/>
            <a:ext cx="384353" cy="384353"/>
            <a:chOff x="0" y="0"/>
            <a:chExt cx="512470" cy="5124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FACC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207157" y="3019882"/>
            <a:ext cx="384353" cy="384353"/>
            <a:chOff x="0" y="0"/>
            <a:chExt cx="512470" cy="5124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5CA67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236666" y="3157147"/>
            <a:ext cx="384353" cy="384353"/>
            <a:chOff x="0" y="0"/>
            <a:chExt cx="512470" cy="5124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2A9D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725368"/>
            <a:ext cx="539924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FACC5E"/>
                </a:solidFill>
                <a:latin typeface="Aptos Bold"/>
                <a:ea typeface="Aptos Bold"/>
                <a:cs typeface="Aptos Bold"/>
                <a:sym typeface="Aptos Bold"/>
              </a:rPr>
              <a:t>KẾT LUẬN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676716"/>
            <a:ext cx="9435855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8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Bếp Nhà kết nối</a:t>
            </a:r>
          </a:p>
          <a:p>
            <a:pPr algn="l">
              <a:lnSpc>
                <a:spcPts val="5399"/>
              </a:lnSpc>
            </a:pPr>
            <a:r>
              <a:rPr lang="en-US" sz="44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công thức, con người và dữ liệu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4212693"/>
            <a:ext cx="9929070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DEEBEF"/>
                </a:solidFill>
                <a:latin typeface="Aptos"/>
                <a:ea typeface="Aptos"/>
                <a:cs typeface="Aptos"/>
                <a:sym typeface="Aptos"/>
              </a:rPr>
              <a:t>Đồ án đã hiện thực các luồng cốt lõi: chia sẻ công thức có cấu trúc, tìm kiếm, đánh giá, theo dõi và quản trị nội dung trên nền ASP.NET Core MVC.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28700" y="6846935"/>
            <a:ext cx="3951019" cy="1036808"/>
            <a:chOff x="0" y="0"/>
            <a:chExt cx="5268026" cy="13824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268051" cy="1382375"/>
            </a:xfrm>
            <a:custGeom>
              <a:avLst/>
              <a:gdLst/>
              <a:ahLst/>
              <a:cxnLst/>
              <a:rect l="l" t="t" r="r" b="b"/>
              <a:pathLst>
                <a:path w="5268051" h="1382375">
                  <a:moveTo>
                    <a:pt x="0" y="230396"/>
                  </a:moveTo>
                  <a:cubicBezTo>
                    <a:pt x="0" y="103076"/>
                    <a:pt x="98200" y="0"/>
                    <a:pt x="219496" y="0"/>
                  </a:cubicBezTo>
                  <a:lnTo>
                    <a:pt x="5048563" y="0"/>
                  </a:lnTo>
                  <a:cubicBezTo>
                    <a:pt x="5169859" y="0"/>
                    <a:pt x="5268051" y="103076"/>
                    <a:pt x="5268051" y="230396"/>
                  </a:cubicBezTo>
                  <a:lnTo>
                    <a:pt x="5268051" y="1151979"/>
                  </a:lnTo>
                  <a:cubicBezTo>
                    <a:pt x="5268051" y="1279299"/>
                    <a:pt x="5169859" y="1382375"/>
                    <a:pt x="5048563" y="1382375"/>
                  </a:cubicBezTo>
                  <a:lnTo>
                    <a:pt x="219496" y="1382375"/>
                  </a:lnTo>
                  <a:cubicBezTo>
                    <a:pt x="98200" y="1382375"/>
                    <a:pt x="0" y="1279299"/>
                    <a:pt x="0" y="1151979"/>
                  </a:cubicBezTo>
                  <a:close/>
                </a:path>
              </a:pathLst>
            </a:custGeom>
            <a:solidFill>
              <a:srgbClr val="F4826C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84079" y="7074826"/>
            <a:ext cx="3040261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XIN CẢM ƠN!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7347" y="7074826"/>
            <a:ext cx="529042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FACC5E"/>
                </a:solidFill>
                <a:latin typeface="Aptos Bold"/>
                <a:ea typeface="Aptos Bold"/>
                <a:cs typeface="Aptos Bold"/>
                <a:sym typeface="Aptos Bold"/>
              </a:rPr>
              <a:t>CÂU HỎI &amp; THẢO LUẬN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</a:p>
        </p:txBody>
      </p:sp>
      <p:pic>
        <p:nvPicPr>
          <p:cNvPr id="27" name="Audio 26">
            <a:extLst>
              <a:ext uri="{FF2B5EF4-FFF2-40B4-BE49-F238E27FC236}">
                <a16:creationId xmlns:a16="http://schemas.microsoft.com/office/drawing/2014/main" id="{790FE7C4-D48D-650F-F8F1-6DA997913D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236"/>
    </mc:Choice>
    <mc:Fallback>
      <p:transition spd="slow" advTm="382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1354</Words>
  <Application>Microsoft Macintosh PowerPoint</Application>
  <PresentationFormat>Custom</PresentationFormat>
  <Paragraphs>206</Paragraphs>
  <Slides>19</Slides>
  <Notes>0</Notes>
  <HiddenSlides>0</HiddenSlides>
  <MMClips>19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Bold</vt:lpstr>
      <vt:lpstr>Arial</vt:lpstr>
      <vt:lpstr>Calibri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Nguyễn Thị Mộng Thu -  MSSV: 170125202</dc:title>
  <cp:lastModifiedBy>Thu Nguyen</cp:lastModifiedBy>
  <cp:revision>15</cp:revision>
  <dcterms:created xsi:type="dcterms:W3CDTF">2006-08-16T00:00:00Z</dcterms:created>
  <dcterms:modified xsi:type="dcterms:W3CDTF">2026-10-27T15:21:25Z</dcterms:modified>
  <dc:identifier>DAHY18GIrL4</dc:identifier>
</cp:coreProperties>
</file>